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we are TetraPack. Fraud Lens is a Bob-powered tool that turns messy cyber fraud intelligence into an FIR-ready case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Jamtara: over 95,000 UPI fraud cases in FY2023. Investigators spent weeks tracing accounts, SIMs and devices by hand, and most cases went unsolved for lack of network visualization.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from raw records to case brief. Investigators simply ask Bob in plain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Investigators use the graph UI or chat with Bob. Bob routes each question to four engines that read and write one temporal knowledge graph. Findings flow through the investigation engine and the legal layer into the case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Bob is the chatbot on top of the graph. Investigators ask questions in plain language: trace, explain, challenge, compare and simulate. The exchange shown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Centrality and community analysis surface one kingpin, a layer of mules, and many victims. The SIM-swap detector explains how each victim was drained. Data shown is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differentiators: the SIM-swap detector, the action engine that computes what to freeze, and the legal layer that maps findings to sections.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is FIR-ready, with evidence IDs and mapped legal sections, plus four concrete actions: freeze now, telecom requests, bank requests and field verification. Thank you from TetraPack.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any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583680" y="914400"/>
            <a:ext cx="1280160" cy="640080"/>
          </a:xfrm>
          <a:prstGeom prst="line">
            <a:avLst/>
          </a:prstGeom>
          <a:noFill/>
          <a:ln w="15875">
            <a:solidFill>
              <a:srgbClr val="2F5B96"/>
            </a:solidFill>
            <a:prstDash val="solid"/>
          </a:ln>
        </p:spPr>
      </p:sp>
      <p:sp>
        <p:nvSpPr>
          <p:cNvPr id="3" name="Shape 1"/>
          <p:cNvSpPr/>
          <p:nvPr/>
        </p:nvSpPr>
        <p:spPr>
          <a:xfrm flipV="1">
            <a:off x="6035040" y="914400"/>
            <a:ext cx="548640" cy="1463040"/>
          </a:xfrm>
          <a:prstGeom prst="line">
            <a:avLst/>
          </a:prstGeom>
          <a:noFill/>
          <a:ln w="15875">
            <a:solidFill>
              <a:srgbClr val="2F5B96"/>
            </a:solidFill>
            <a:prstDash val="solid"/>
          </a:ln>
        </p:spPr>
      </p:sp>
      <p:sp>
        <p:nvSpPr>
          <p:cNvPr id="4" name="Shape 2"/>
          <p:cNvSpPr/>
          <p:nvPr/>
        </p:nvSpPr>
        <p:spPr>
          <a:xfrm flipV="1">
            <a:off x="7315200" y="1554480"/>
            <a:ext cx="548640" cy="1097280"/>
          </a:xfrm>
          <a:prstGeom prst="line">
            <a:avLst/>
          </a:prstGeom>
          <a:noFill/>
          <a:ln w="15875">
            <a:solidFill>
              <a:srgbClr val="2F5B96"/>
            </a:solidFill>
            <a:prstDash val="solid"/>
          </a:ln>
        </p:spPr>
      </p:sp>
      <p:sp>
        <p:nvSpPr>
          <p:cNvPr id="5" name="Shape 3"/>
          <p:cNvSpPr/>
          <p:nvPr/>
        </p:nvSpPr>
        <p:spPr>
          <a:xfrm>
            <a:off x="6035040" y="2377440"/>
            <a:ext cx="1280160" cy="274320"/>
          </a:xfrm>
          <a:prstGeom prst="line">
            <a:avLst/>
          </a:prstGeom>
          <a:noFill/>
          <a:ln w="15875">
            <a:solidFill>
              <a:srgbClr val="2F5B96"/>
            </a:solidFill>
            <a:prstDash val="solid"/>
          </a:ln>
        </p:spPr>
      </p:sp>
      <p:sp>
        <p:nvSpPr>
          <p:cNvPr id="6" name="Shape 4"/>
          <p:cNvSpPr/>
          <p:nvPr/>
        </p:nvSpPr>
        <p:spPr>
          <a:xfrm>
            <a:off x="7315200" y="2651760"/>
            <a:ext cx="1097280" cy="548640"/>
          </a:xfrm>
          <a:prstGeom prst="line">
            <a:avLst/>
          </a:prstGeom>
          <a:noFill/>
          <a:ln w="15875">
            <a:solidFill>
              <a:srgbClr val="2F5B96"/>
            </a:solidFill>
            <a:prstDash val="solid"/>
          </a:ln>
        </p:spPr>
      </p:sp>
      <p:sp>
        <p:nvSpPr>
          <p:cNvPr id="7" name="Shape 5"/>
          <p:cNvSpPr/>
          <p:nvPr/>
        </p:nvSpPr>
        <p:spPr>
          <a:xfrm>
            <a:off x="6035040" y="2377440"/>
            <a:ext cx="365760" cy="1463040"/>
          </a:xfrm>
          <a:prstGeom prst="line">
            <a:avLst/>
          </a:prstGeom>
          <a:noFill/>
          <a:ln w="15875">
            <a:solidFill>
              <a:srgbClr val="2F5B96"/>
            </a:solidFill>
            <a:prstDash val="solid"/>
          </a:ln>
        </p:spPr>
      </p:sp>
      <p:sp>
        <p:nvSpPr>
          <p:cNvPr id="8" name="Shape 6"/>
          <p:cNvSpPr/>
          <p:nvPr/>
        </p:nvSpPr>
        <p:spPr>
          <a:xfrm>
            <a:off x="7315200" y="2651760"/>
            <a:ext cx="365760" cy="1554480"/>
          </a:xfrm>
          <a:prstGeom prst="line">
            <a:avLst/>
          </a:prstGeom>
          <a:noFill/>
          <a:ln w="15875">
            <a:solidFill>
              <a:srgbClr val="2F5B96"/>
            </a:solidFill>
            <a:prstDash val="solid"/>
          </a:ln>
        </p:spPr>
      </p:sp>
      <p:sp>
        <p:nvSpPr>
          <p:cNvPr id="9" name="Shape 7"/>
          <p:cNvSpPr/>
          <p:nvPr/>
        </p:nvSpPr>
        <p:spPr>
          <a:xfrm>
            <a:off x="6400800" y="3840480"/>
            <a:ext cx="1280160" cy="365760"/>
          </a:xfrm>
          <a:prstGeom prst="line">
            <a:avLst/>
          </a:prstGeom>
          <a:noFill/>
          <a:ln w="15875">
            <a:solidFill>
              <a:srgbClr val="2F5B96"/>
            </a:solidFill>
            <a:prstDash val="solid"/>
          </a:ln>
        </p:spPr>
      </p:sp>
      <p:sp>
        <p:nvSpPr>
          <p:cNvPr id="10" name="Shape 8"/>
          <p:cNvSpPr/>
          <p:nvPr/>
        </p:nvSpPr>
        <p:spPr>
          <a:xfrm>
            <a:off x="7863840" y="1554480"/>
            <a:ext cx="548640" cy="1645920"/>
          </a:xfrm>
          <a:prstGeom prst="line">
            <a:avLst/>
          </a:prstGeom>
          <a:noFill/>
          <a:ln w="15875">
            <a:solidFill>
              <a:srgbClr val="2F5B96"/>
            </a:solidFill>
            <a:prstDash val="solid"/>
          </a:ln>
        </p:spPr>
      </p:sp>
      <p:sp>
        <p:nvSpPr>
          <p:cNvPr id="11" name="Shape 9"/>
          <p:cNvSpPr/>
          <p:nvPr/>
        </p:nvSpPr>
        <p:spPr>
          <a:xfrm>
            <a:off x="6428232" y="758952"/>
            <a:ext cx="310896" cy="310896"/>
          </a:xfrm>
          <a:prstGeom prst="ellipse">
            <a:avLst/>
          </a:prstGeom>
          <a:solidFill>
            <a:srgbClr val="6FA8E8"/>
          </a:solidFill>
          <a:ln w="25400">
            <a:solidFill>
              <a:srgbClr val="0B2545"/>
            </a:solidFill>
            <a:prstDash val="solid"/>
          </a:ln>
        </p:spPr>
      </p:sp>
      <p:sp>
        <p:nvSpPr>
          <p:cNvPr id="12" name="Shape 10"/>
          <p:cNvSpPr/>
          <p:nvPr/>
        </p:nvSpPr>
        <p:spPr>
          <a:xfrm>
            <a:off x="7708392" y="1399032"/>
            <a:ext cx="310896" cy="310896"/>
          </a:xfrm>
          <a:prstGeom prst="ellipse">
            <a:avLst/>
          </a:prstGeom>
          <a:solidFill>
            <a:srgbClr val="6FA8E8"/>
          </a:solidFill>
          <a:ln w="25400">
            <a:solidFill>
              <a:srgbClr val="0B2545"/>
            </a:solidFill>
            <a:prstDash val="solid"/>
          </a:ln>
        </p:spPr>
      </p:sp>
      <p:sp>
        <p:nvSpPr>
          <p:cNvPr id="13" name="Shape 11"/>
          <p:cNvSpPr/>
          <p:nvPr/>
        </p:nvSpPr>
        <p:spPr>
          <a:xfrm>
            <a:off x="5879592" y="2221992"/>
            <a:ext cx="310896" cy="310896"/>
          </a:xfrm>
          <a:prstGeom prst="ellipse">
            <a:avLst/>
          </a:prstGeom>
          <a:solidFill>
            <a:srgbClr val="6FA8E8"/>
          </a:solidFill>
          <a:ln w="25400">
            <a:solidFill>
              <a:srgbClr val="0B2545"/>
            </a:solidFill>
            <a:prstDash val="solid"/>
          </a:ln>
        </p:spPr>
      </p:sp>
      <p:sp>
        <p:nvSpPr>
          <p:cNvPr id="14" name="Shape 12"/>
          <p:cNvSpPr/>
          <p:nvPr/>
        </p:nvSpPr>
        <p:spPr>
          <a:xfrm>
            <a:off x="7063740" y="2400300"/>
            <a:ext cx="502920" cy="502920"/>
          </a:xfrm>
          <a:prstGeom prst="ellipse">
            <a:avLst/>
          </a:prstGeom>
          <a:solidFill>
            <a:srgbClr val="4A90D9"/>
          </a:solidFill>
          <a:ln w="25400">
            <a:solidFill>
              <a:srgbClr val="0B2545"/>
            </a:solidFill>
            <a:prstDash val="solid"/>
          </a:ln>
        </p:spPr>
      </p:sp>
      <p:sp>
        <p:nvSpPr>
          <p:cNvPr id="15" name="Shape 13"/>
          <p:cNvSpPr/>
          <p:nvPr/>
        </p:nvSpPr>
        <p:spPr>
          <a:xfrm>
            <a:off x="8257032" y="3044952"/>
            <a:ext cx="310896" cy="310896"/>
          </a:xfrm>
          <a:prstGeom prst="ellipse">
            <a:avLst/>
          </a:prstGeom>
          <a:solidFill>
            <a:srgbClr val="6FA8E8"/>
          </a:solidFill>
          <a:ln w="25400">
            <a:solidFill>
              <a:srgbClr val="0B2545"/>
            </a:solidFill>
            <a:prstDash val="solid"/>
          </a:ln>
        </p:spPr>
      </p:sp>
      <p:sp>
        <p:nvSpPr>
          <p:cNvPr id="16" name="Shape 14"/>
          <p:cNvSpPr/>
          <p:nvPr/>
        </p:nvSpPr>
        <p:spPr>
          <a:xfrm>
            <a:off x="6245352" y="3685032"/>
            <a:ext cx="310896" cy="310896"/>
          </a:xfrm>
          <a:prstGeom prst="ellipse">
            <a:avLst/>
          </a:prstGeom>
          <a:solidFill>
            <a:srgbClr val="6FA8E8"/>
          </a:solidFill>
          <a:ln w="25400">
            <a:solidFill>
              <a:srgbClr val="0B2545"/>
            </a:solidFill>
            <a:prstDash val="solid"/>
          </a:ln>
        </p:spPr>
      </p:sp>
      <p:sp>
        <p:nvSpPr>
          <p:cNvPr id="17" name="Shape 15"/>
          <p:cNvSpPr/>
          <p:nvPr/>
        </p:nvSpPr>
        <p:spPr>
          <a:xfrm>
            <a:off x="7525512" y="4050792"/>
            <a:ext cx="310896" cy="310896"/>
          </a:xfrm>
          <a:prstGeom prst="ellipse">
            <a:avLst/>
          </a:prstGeom>
          <a:solidFill>
            <a:srgbClr val="6FA8E8"/>
          </a:solidFill>
          <a:ln w="25400">
            <a:solidFill>
              <a:srgbClr val="0B2545"/>
            </a:solidFill>
            <a:prstDash val="solid"/>
          </a:ln>
        </p:spPr>
      </p:sp>
      <p:sp>
        <p:nvSpPr>
          <p:cNvPr id="18" name="Text 16"/>
          <p:cNvSpPr txBox="1"/>
          <p:nvPr/>
        </p:nvSpPr>
        <p:spPr>
          <a:xfrm>
            <a:off x="640080" y="1143000"/>
            <a:ext cx="4572000" cy="274320"/>
          </a:xfrm>
          <a:prstGeom prst="rect">
            <a:avLst/>
          </a:prstGeom>
          <a:noFill/>
          <a:ln/>
        </p:spPr>
        <p:txBody>
          <a:bodyPr wrap="square" lIns="0" tIns="0" rIns="0" bIns="0" rtlCol="0" anchor="t"/>
          <a:lstStyle/>
          <a:p>
            <a:pPr indent="0" marL="0">
              <a:buNone/>
            </a:pPr>
            <a:r>
              <a:rPr lang="en-US" sz="1200" b="1" spc="300" kern="0" dirty="0">
                <a:solidFill>
                  <a:srgbClr val="8FBCF0"/>
                </a:solidFill>
                <a:latin typeface="Calibri" pitchFamily="34" charset="0"/>
                <a:ea typeface="Calibri" pitchFamily="34" charset="-122"/>
                <a:cs typeface="Calibri" pitchFamily="34" charset="-120"/>
              </a:rPr>
              <a:t>CYBER FRAUD INTELLIGENCE</a:t>
            </a:r>
            <a:endParaRPr lang="en-US" sz="1200" dirty="0"/>
          </a:p>
        </p:txBody>
      </p:sp>
      <p:sp>
        <p:nvSpPr>
          <p:cNvPr id="19" name="Text 17"/>
          <p:cNvSpPr txBox="1"/>
          <p:nvPr/>
        </p:nvSpPr>
        <p:spPr>
          <a:xfrm>
            <a:off x="640080" y="1508760"/>
            <a:ext cx="5120640" cy="914400"/>
          </a:xfrm>
          <a:prstGeom prst="rect">
            <a:avLst/>
          </a:prstGeom>
          <a:noFill/>
          <a:ln/>
        </p:spPr>
        <p:txBody>
          <a:bodyPr wrap="square" lIns="0" tIns="0" rIns="0" bIns="0" rtlCol="0" anchor="t"/>
          <a:lstStyle/>
          <a:p>
            <a:pPr indent="0" marL="0">
              <a:buNone/>
            </a:pPr>
            <a:r>
              <a:rPr lang="en-US" sz="5600" b="1" dirty="0">
                <a:solidFill>
                  <a:srgbClr val="FFFFFF"/>
                </a:solidFill>
                <a:latin typeface="Cambria" pitchFamily="34" charset="0"/>
                <a:ea typeface="Cambria" pitchFamily="34" charset="-122"/>
                <a:cs typeface="Cambria" pitchFamily="34" charset="-120"/>
              </a:rPr>
              <a:t>Fraud Lens</a:t>
            </a:r>
            <a:endParaRPr lang="en-US" sz="5600" dirty="0"/>
          </a:p>
        </p:txBody>
      </p:sp>
      <p:sp>
        <p:nvSpPr>
          <p:cNvPr id="20" name="Text 18"/>
          <p:cNvSpPr txBox="1"/>
          <p:nvPr/>
        </p:nvSpPr>
        <p:spPr>
          <a:xfrm>
            <a:off x="640080" y="2560320"/>
            <a:ext cx="4754880" cy="822960"/>
          </a:xfrm>
          <a:prstGeom prst="rect">
            <a:avLst/>
          </a:prstGeom>
          <a:noFill/>
          <a:ln/>
        </p:spPr>
        <p:txBody>
          <a:bodyPr wrap="square" lIns="0" tIns="0" rIns="0" bIns="0" rtlCol="0" anchor="t"/>
          <a:lstStyle/>
          <a:p>
            <a:pPr indent="0" marL="0">
              <a:buNone/>
            </a:pPr>
            <a:r>
              <a:rPr lang="en-US" sz="1700" dirty="0">
                <a:solidFill>
                  <a:srgbClr val="C9DDF5"/>
                </a:solidFill>
                <a:latin typeface="Calibri" pitchFamily="34" charset="0"/>
                <a:ea typeface="Calibri" pitchFamily="34" charset="-122"/>
                <a:cs typeface="Calibri" pitchFamily="34" charset="-120"/>
              </a:rPr>
              <a:t>A Bob-powered investigation tool that turns raw fraud records into an FIR-ready case brief.</a:t>
            </a:r>
            <a:endParaRPr lang="en-US" sz="1700" dirty="0"/>
          </a:p>
        </p:txBody>
      </p:sp>
      <p:sp>
        <p:nvSpPr>
          <p:cNvPr id="21" name="Shape 19"/>
          <p:cNvSpPr/>
          <p:nvPr/>
        </p:nvSpPr>
        <p:spPr>
          <a:xfrm>
            <a:off x="640080" y="3703320"/>
            <a:ext cx="1920240" cy="420624"/>
          </a:xfrm>
          <a:prstGeom prst="roundRect">
            <a:avLst>
              <a:gd name="adj" fmla="val 50000"/>
            </a:avLst>
          </a:prstGeom>
          <a:solidFill>
            <a:srgbClr val="1F5FBF"/>
          </a:solidFill>
          <a:ln w="12700">
            <a:solidFill>
              <a:srgbClr val="1F5FBF"/>
            </a:solidFill>
            <a:prstDash val="solid"/>
          </a:ln>
        </p:spPr>
      </p:sp>
      <p:sp>
        <p:nvSpPr>
          <p:cNvPr id="22" name="Text 20"/>
          <p:cNvSpPr txBox="1"/>
          <p:nvPr/>
        </p:nvSpPr>
        <p:spPr>
          <a:xfrm>
            <a:off x="640080" y="3703320"/>
            <a:ext cx="1920240" cy="42062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By TetraPack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The problem: Jamtara SIM-swap ring</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Real case, Jharkhand</a:t>
            </a:r>
            <a:endParaRPr lang="en-US" sz="1500" dirty="0"/>
          </a:p>
        </p:txBody>
      </p:sp>
      <p:sp>
        <p:nvSpPr>
          <p:cNvPr id="4" name="Shape 2"/>
          <p:cNvSpPr/>
          <p:nvPr/>
        </p:nvSpPr>
        <p:spPr>
          <a:xfrm>
            <a:off x="457200" y="1463040"/>
            <a:ext cx="3657600" cy="2926080"/>
          </a:xfrm>
          <a:prstGeom prst="roundRect">
            <a:avLst>
              <a:gd name="adj" fmla="val 3750"/>
            </a:avLst>
          </a:prstGeom>
          <a:solidFill>
            <a:srgbClr val="0B2545"/>
          </a:solidFill>
          <a:ln w="12700">
            <a:solidFill>
              <a:srgbClr val="0B2545"/>
            </a:solidFill>
            <a:prstDash val="solid"/>
          </a:ln>
        </p:spPr>
      </p:sp>
      <p:sp>
        <p:nvSpPr>
          <p:cNvPr id="5" name="Text 3"/>
          <p:cNvSpPr txBox="1"/>
          <p:nvPr/>
        </p:nvSpPr>
        <p:spPr>
          <a:xfrm>
            <a:off x="731520" y="1828800"/>
            <a:ext cx="3108960" cy="1005840"/>
          </a:xfrm>
          <a:prstGeom prst="rect">
            <a:avLst/>
          </a:prstGeom>
          <a:noFill/>
          <a:ln/>
        </p:spPr>
        <p:txBody>
          <a:bodyPr wrap="square" lIns="0" tIns="0" rIns="0" bIns="0" rtlCol="0" anchor="t"/>
          <a:lstStyle/>
          <a:p>
            <a:pPr indent="0" marL="0">
              <a:buNone/>
            </a:pPr>
            <a:r>
              <a:rPr lang="en-US" sz="6000" b="1" dirty="0">
                <a:solidFill>
                  <a:srgbClr val="FFFFFF"/>
                </a:solidFill>
                <a:latin typeface="Cambria" pitchFamily="34" charset="0"/>
                <a:ea typeface="Cambria" pitchFamily="34" charset="-122"/>
                <a:cs typeface="Cambria" pitchFamily="34" charset="-120"/>
              </a:rPr>
              <a:t>95,000+</a:t>
            </a:r>
            <a:endParaRPr lang="en-US" sz="6000" dirty="0"/>
          </a:p>
        </p:txBody>
      </p:sp>
      <p:sp>
        <p:nvSpPr>
          <p:cNvPr id="6" name="Text 4"/>
          <p:cNvSpPr txBox="1"/>
          <p:nvPr/>
        </p:nvSpPr>
        <p:spPr>
          <a:xfrm>
            <a:off x="731520" y="2971800"/>
            <a:ext cx="3108960" cy="457200"/>
          </a:xfrm>
          <a:prstGeom prst="rect">
            <a:avLst/>
          </a:prstGeom>
          <a:noFill/>
          <a:ln/>
        </p:spPr>
        <p:txBody>
          <a:bodyPr wrap="square" lIns="0" tIns="0" rIns="0" bIns="0" rtlCol="0" anchor="t"/>
          <a:lstStyle/>
          <a:p>
            <a:pPr indent="0" marL="0">
              <a:buNone/>
            </a:pPr>
            <a:r>
              <a:rPr lang="en-US" sz="1800" dirty="0">
                <a:solidFill>
                  <a:srgbClr val="C9DDF5"/>
                </a:solidFill>
                <a:latin typeface="Calibri" pitchFamily="34" charset="0"/>
                <a:ea typeface="Calibri" pitchFamily="34" charset="-122"/>
                <a:cs typeface="Calibri" pitchFamily="34" charset="-120"/>
              </a:rPr>
              <a:t>UPI fraud cases in FY2023</a:t>
            </a:r>
            <a:endParaRPr lang="en-US" sz="1800" dirty="0"/>
          </a:p>
        </p:txBody>
      </p:sp>
      <p:sp>
        <p:nvSpPr>
          <p:cNvPr id="7" name="Shape 5"/>
          <p:cNvSpPr/>
          <p:nvPr/>
        </p:nvSpPr>
        <p:spPr>
          <a:xfrm>
            <a:off x="4389120" y="1463040"/>
            <a:ext cx="4297680" cy="1371600"/>
          </a:xfrm>
          <a:prstGeom prst="roundRect">
            <a:avLst>
              <a:gd name="adj" fmla="val 8000"/>
            </a:avLst>
          </a:prstGeom>
          <a:solidFill>
            <a:srgbClr val="EAF2FC"/>
          </a:solidFill>
          <a:ln w="12700">
            <a:solidFill>
              <a:srgbClr val="EAF2FC"/>
            </a:solidFill>
            <a:prstDash val="solid"/>
          </a:ln>
        </p:spPr>
      </p:sp>
      <p:sp>
        <p:nvSpPr>
          <p:cNvPr id="8" name="Text 6"/>
          <p:cNvSpPr txBox="1"/>
          <p:nvPr/>
        </p:nvSpPr>
        <p:spPr>
          <a:xfrm>
            <a:off x="4663440" y="1645920"/>
            <a:ext cx="3749040" cy="411480"/>
          </a:xfrm>
          <a:prstGeom prst="rect">
            <a:avLst/>
          </a:prstGeom>
          <a:noFill/>
          <a:ln/>
        </p:spPr>
        <p:txBody>
          <a:bodyPr wrap="square" lIns="0" tIns="0" rIns="0" bIns="0" rtlCol="0" anchor="t"/>
          <a:lstStyle/>
          <a:p>
            <a:pPr indent="0" marL="0">
              <a:buNone/>
            </a:pPr>
            <a:r>
              <a:rPr lang="en-US" sz="2400" b="1" dirty="0">
                <a:solidFill>
                  <a:srgbClr val="1F5FBF"/>
                </a:solidFill>
                <a:latin typeface="Cambria" pitchFamily="34" charset="0"/>
                <a:ea typeface="Cambria" pitchFamily="34" charset="-122"/>
                <a:cs typeface="Cambria" pitchFamily="34" charset="-120"/>
              </a:rPr>
              <a:t>Weeks</a:t>
            </a:r>
            <a:endParaRPr lang="en-US" sz="2400" dirty="0"/>
          </a:p>
        </p:txBody>
      </p:sp>
      <p:sp>
        <p:nvSpPr>
          <p:cNvPr id="9" name="Text 7"/>
          <p:cNvSpPr txBox="1"/>
          <p:nvPr/>
        </p:nvSpPr>
        <p:spPr>
          <a:xfrm>
            <a:off x="4663440" y="2148840"/>
            <a:ext cx="3749040" cy="594360"/>
          </a:xfrm>
          <a:prstGeom prst="rect">
            <a:avLst/>
          </a:prstGeom>
          <a:noFill/>
          <a:ln/>
        </p:spPr>
        <p:txBody>
          <a:bodyPr wrap="square" lIns="0" tIns="0" rIns="0" bIns="0" rtlCol="0" anchor="t"/>
          <a:lstStyle/>
          <a:p>
            <a:pPr indent="0" marL="0">
              <a:buNone/>
            </a:pPr>
            <a:r>
              <a:rPr lang="en-US" sz="1400" dirty="0">
                <a:solidFill>
                  <a:srgbClr val="12243F"/>
                </a:solidFill>
                <a:latin typeface="Calibri" pitchFamily="34" charset="0"/>
                <a:ea typeface="Calibri" pitchFamily="34" charset="-122"/>
                <a:cs typeface="Calibri" pitchFamily="34" charset="-120"/>
              </a:rPr>
              <a:t>Investigators manually traced links between bank accounts, SIM cards and devices.</a:t>
            </a:r>
            <a:endParaRPr lang="en-US" sz="1400" dirty="0"/>
          </a:p>
        </p:txBody>
      </p:sp>
      <p:sp>
        <p:nvSpPr>
          <p:cNvPr id="10" name="Shape 8"/>
          <p:cNvSpPr/>
          <p:nvPr/>
        </p:nvSpPr>
        <p:spPr>
          <a:xfrm>
            <a:off x="4389120" y="3017520"/>
            <a:ext cx="4297680" cy="1371600"/>
          </a:xfrm>
          <a:prstGeom prst="roundRect">
            <a:avLst>
              <a:gd name="adj" fmla="val 8000"/>
            </a:avLst>
          </a:prstGeom>
          <a:solidFill>
            <a:srgbClr val="EAF2FC"/>
          </a:solidFill>
          <a:ln w="12700">
            <a:solidFill>
              <a:srgbClr val="EAF2FC"/>
            </a:solidFill>
            <a:prstDash val="solid"/>
          </a:ln>
        </p:spPr>
      </p:sp>
      <p:sp>
        <p:nvSpPr>
          <p:cNvPr id="11" name="Text 9"/>
          <p:cNvSpPr txBox="1"/>
          <p:nvPr/>
        </p:nvSpPr>
        <p:spPr>
          <a:xfrm>
            <a:off x="4663440" y="3200400"/>
            <a:ext cx="3749040" cy="411480"/>
          </a:xfrm>
          <a:prstGeom prst="rect">
            <a:avLst/>
          </a:prstGeom>
          <a:noFill/>
          <a:ln/>
        </p:spPr>
        <p:txBody>
          <a:bodyPr wrap="square" lIns="0" tIns="0" rIns="0" bIns="0" rtlCol="0" anchor="t"/>
          <a:lstStyle/>
          <a:p>
            <a:pPr indent="0" marL="0">
              <a:buNone/>
            </a:pPr>
            <a:r>
              <a:rPr lang="en-US" sz="2400" b="1" dirty="0">
                <a:solidFill>
                  <a:srgbClr val="1F5FBF"/>
                </a:solidFill>
                <a:latin typeface="Cambria" pitchFamily="34" charset="0"/>
                <a:ea typeface="Cambria" pitchFamily="34" charset="-122"/>
                <a:cs typeface="Cambria" pitchFamily="34" charset="-120"/>
              </a:rPr>
              <a:t>Mostly unsolved</a:t>
            </a:r>
            <a:endParaRPr lang="en-US" sz="2400" dirty="0"/>
          </a:p>
        </p:txBody>
      </p:sp>
      <p:sp>
        <p:nvSpPr>
          <p:cNvPr id="12" name="Text 10"/>
          <p:cNvSpPr txBox="1"/>
          <p:nvPr/>
        </p:nvSpPr>
        <p:spPr>
          <a:xfrm>
            <a:off x="4663440" y="3703320"/>
            <a:ext cx="3749040" cy="594360"/>
          </a:xfrm>
          <a:prstGeom prst="rect">
            <a:avLst/>
          </a:prstGeom>
          <a:noFill/>
          <a:ln/>
        </p:spPr>
        <p:txBody>
          <a:bodyPr wrap="square" lIns="0" tIns="0" rIns="0" bIns="0" rtlCol="0" anchor="t"/>
          <a:lstStyle/>
          <a:p>
            <a:pPr indent="0" marL="0">
              <a:buNone/>
            </a:pPr>
            <a:r>
              <a:rPr lang="en-US" sz="1400" dirty="0">
                <a:solidFill>
                  <a:srgbClr val="12243F"/>
                </a:solidFill>
                <a:latin typeface="Calibri" pitchFamily="34" charset="0"/>
                <a:ea typeface="Calibri" pitchFamily="34" charset="-122"/>
                <a:cs typeface="Calibri" pitchFamily="34" charset="-120"/>
              </a:rPr>
              <a:t>No network visualization tools to connect the dots across cases.</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From unstructured data to case brief</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Mock inputs: transaction records, call logs, device IDs, accused names</a:t>
            </a:r>
            <a:endParaRPr lang="en-US" sz="1500" dirty="0"/>
          </a:p>
        </p:txBody>
      </p:sp>
      <p:sp>
        <p:nvSpPr>
          <p:cNvPr id="4" name="Shape 2"/>
          <p:cNvSpPr/>
          <p:nvPr/>
        </p:nvSpPr>
        <p:spPr>
          <a:xfrm>
            <a:off x="457200" y="1554480"/>
            <a:ext cx="1536192" cy="2148840"/>
          </a:xfrm>
          <a:prstGeom prst="roundRect">
            <a:avLst>
              <a:gd name="adj" fmla="val 7143"/>
            </a:avLst>
          </a:prstGeom>
          <a:solidFill>
            <a:srgbClr val="EAF2FC"/>
          </a:solidFill>
          <a:ln w="12700">
            <a:solidFill>
              <a:srgbClr val="EAF2FC"/>
            </a:solidFill>
            <a:prstDash val="solid"/>
          </a:ln>
        </p:spPr>
      </p:sp>
      <p:sp>
        <p:nvSpPr>
          <p:cNvPr id="5" name="Shape 3"/>
          <p:cNvSpPr/>
          <p:nvPr/>
        </p:nvSpPr>
        <p:spPr>
          <a:xfrm>
            <a:off x="594360" y="1709928"/>
            <a:ext cx="420624" cy="420624"/>
          </a:xfrm>
          <a:prstGeom prst="ellipse">
            <a:avLst/>
          </a:prstGeom>
          <a:solidFill>
            <a:srgbClr val="1F5FBF"/>
          </a:solidFill>
          <a:ln w="12700">
            <a:solidFill>
              <a:srgbClr val="1F5FBF"/>
            </a:solidFill>
            <a:prstDash val="solid"/>
          </a:ln>
        </p:spPr>
      </p:sp>
      <p:sp>
        <p:nvSpPr>
          <p:cNvPr id="6" name="Text 4"/>
          <p:cNvSpPr txBox="1"/>
          <p:nvPr/>
        </p:nvSpPr>
        <p:spPr>
          <a:xfrm>
            <a:off x="594360" y="1709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594360" y="2331720"/>
            <a:ext cx="1280160" cy="36576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Ingest</a:t>
            </a:r>
            <a:endParaRPr lang="en-US" sz="2000" dirty="0"/>
          </a:p>
        </p:txBody>
      </p:sp>
      <p:sp>
        <p:nvSpPr>
          <p:cNvPr id="8" name="Text 6"/>
          <p:cNvSpPr txBox="1"/>
          <p:nvPr/>
        </p:nvSpPr>
        <p:spPr>
          <a:xfrm>
            <a:off x="594360" y="2788920"/>
            <a:ext cx="1280160" cy="82296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Unstructured records loaded into Bob</a:t>
            </a:r>
            <a:endParaRPr lang="en-US" sz="1300" dirty="0"/>
          </a:p>
        </p:txBody>
      </p:sp>
      <p:sp>
        <p:nvSpPr>
          <p:cNvPr id="9" name="Shape 7"/>
          <p:cNvSpPr/>
          <p:nvPr/>
        </p:nvSpPr>
        <p:spPr>
          <a:xfrm>
            <a:off x="2139696" y="1554480"/>
            <a:ext cx="1536192" cy="2148840"/>
          </a:xfrm>
          <a:prstGeom prst="roundRect">
            <a:avLst>
              <a:gd name="adj" fmla="val 7143"/>
            </a:avLst>
          </a:prstGeom>
          <a:solidFill>
            <a:srgbClr val="EAF2FC"/>
          </a:solidFill>
          <a:ln w="12700">
            <a:solidFill>
              <a:srgbClr val="EAF2FC"/>
            </a:solidFill>
            <a:prstDash val="solid"/>
          </a:ln>
        </p:spPr>
      </p:sp>
      <p:sp>
        <p:nvSpPr>
          <p:cNvPr id="10" name="Shape 8"/>
          <p:cNvSpPr/>
          <p:nvPr/>
        </p:nvSpPr>
        <p:spPr>
          <a:xfrm>
            <a:off x="2276856" y="1709928"/>
            <a:ext cx="420624" cy="420624"/>
          </a:xfrm>
          <a:prstGeom prst="ellipse">
            <a:avLst/>
          </a:prstGeom>
          <a:solidFill>
            <a:srgbClr val="1F5FBF"/>
          </a:solidFill>
          <a:ln w="12700">
            <a:solidFill>
              <a:srgbClr val="1F5FBF"/>
            </a:solidFill>
            <a:prstDash val="solid"/>
          </a:ln>
        </p:spPr>
      </p:sp>
      <p:sp>
        <p:nvSpPr>
          <p:cNvPr id="11" name="Text 9"/>
          <p:cNvSpPr txBox="1"/>
          <p:nvPr/>
        </p:nvSpPr>
        <p:spPr>
          <a:xfrm>
            <a:off x="2276856" y="1709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2276856" y="2331720"/>
            <a:ext cx="1280160" cy="36576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Extract</a:t>
            </a:r>
            <a:endParaRPr lang="en-US" sz="2000" dirty="0"/>
          </a:p>
        </p:txBody>
      </p:sp>
      <p:sp>
        <p:nvSpPr>
          <p:cNvPr id="13" name="Text 11"/>
          <p:cNvSpPr txBox="1"/>
          <p:nvPr/>
        </p:nvSpPr>
        <p:spPr>
          <a:xfrm>
            <a:off x="2276856" y="2788920"/>
            <a:ext cx="1280160" cy="82296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Entities and relationships resolved</a:t>
            </a:r>
            <a:endParaRPr lang="en-US" sz="1300" dirty="0"/>
          </a:p>
        </p:txBody>
      </p:sp>
      <p:sp>
        <p:nvSpPr>
          <p:cNvPr id="14" name="Shape 12"/>
          <p:cNvSpPr/>
          <p:nvPr/>
        </p:nvSpPr>
        <p:spPr>
          <a:xfrm>
            <a:off x="3822192" y="1554480"/>
            <a:ext cx="1536192" cy="2148840"/>
          </a:xfrm>
          <a:prstGeom prst="roundRect">
            <a:avLst>
              <a:gd name="adj" fmla="val 7143"/>
            </a:avLst>
          </a:prstGeom>
          <a:solidFill>
            <a:srgbClr val="EAF2FC"/>
          </a:solidFill>
          <a:ln w="12700">
            <a:solidFill>
              <a:srgbClr val="EAF2FC"/>
            </a:solidFill>
            <a:prstDash val="solid"/>
          </a:ln>
        </p:spPr>
      </p:sp>
      <p:sp>
        <p:nvSpPr>
          <p:cNvPr id="15" name="Shape 13"/>
          <p:cNvSpPr/>
          <p:nvPr/>
        </p:nvSpPr>
        <p:spPr>
          <a:xfrm>
            <a:off x="3959352" y="1709928"/>
            <a:ext cx="420624" cy="420624"/>
          </a:xfrm>
          <a:prstGeom prst="ellipse">
            <a:avLst/>
          </a:prstGeom>
          <a:solidFill>
            <a:srgbClr val="1F5FBF"/>
          </a:solidFill>
          <a:ln w="12700">
            <a:solidFill>
              <a:srgbClr val="1F5FBF"/>
            </a:solidFill>
            <a:prstDash val="solid"/>
          </a:ln>
        </p:spPr>
      </p:sp>
      <p:sp>
        <p:nvSpPr>
          <p:cNvPr id="16" name="Text 14"/>
          <p:cNvSpPr txBox="1"/>
          <p:nvPr/>
        </p:nvSpPr>
        <p:spPr>
          <a:xfrm>
            <a:off x="3959352" y="1709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3959352" y="2331720"/>
            <a:ext cx="1280160" cy="36576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Detect</a:t>
            </a:r>
            <a:endParaRPr lang="en-US" sz="2000" dirty="0"/>
          </a:p>
        </p:txBody>
      </p:sp>
      <p:sp>
        <p:nvSpPr>
          <p:cNvPr id="18" name="Text 16"/>
          <p:cNvSpPr txBox="1"/>
          <p:nvPr/>
        </p:nvSpPr>
        <p:spPr>
          <a:xfrm>
            <a:off x="3959352" y="2788920"/>
            <a:ext cx="1280160" cy="82296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SIM-swap chain and pattern type</a:t>
            </a:r>
            <a:endParaRPr lang="en-US" sz="1300" dirty="0"/>
          </a:p>
        </p:txBody>
      </p:sp>
      <p:sp>
        <p:nvSpPr>
          <p:cNvPr id="19" name="Shape 17"/>
          <p:cNvSpPr/>
          <p:nvPr/>
        </p:nvSpPr>
        <p:spPr>
          <a:xfrm>
            <a:off x="5504688" y="1554480"/>
            <a:ext cx="1536192" cy="2148840"/>
          </a:xfrm>
          <a:prstGeom prst="roundRect">
            <a:avLst>
              <a:gd name="adj" fmla="val 7143"/>
            </a:avLst>
          </a:prstGeom>
          <a:solidFill>
            <a:srgbClr val="EAF2FC"/>
          </a:solidFill>
          <a:ln w="12700">
            <a:solidFill>
              <a:srgbClr val="EAF2FC"/>
            </a:solidFill>
            <a:prstDash val="solid"/>
          </a:ln>
        </p:spPr>
      </p:sp>
      <p:sp>
        <p:nvSpPr>
          <p:cNvPr id="20" name="Shape 18"/>
          <p:cNvSpPr/>
          <p:nvPr/>
        </p:nvSpPr>
        <p:spPr>
          <a:xfrm>
            <a:off x="5641848" y="1709928"/>
            <a:ext cx="420624" cy="420624"/>
          </a:xfrm>
          <a:prstGeom prst="ellipse">
            <a:avLst/>
          </a:prstGeom>
          <a:solidFill>
            <a:srgbClr val="1F5FBF"/>
          </a:solidFill>
          <a:ln w="12700">
            <a:solidFill>
              <a:srgbClr val="1F5FBF"/>
            </a:solidFill>
            <a:prstDash val="solid"/>
          </a:ln>
        </p:spPr>
      </p:sp>
      <p:sp>
        <p:nvSpPr>
          <p:cNvPr id="21" name="Text 19"/>
          <p:cNvSpPr txBox="1"/>
          <p:nvPr/>
        </p:nvSpPr>
        <p:spPr>
          <a:xfrm>
            <a:off x="5641848" y="170992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5641848" y="2331720"/>
            <a:ext cx="1280160" cy="36576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Map</a:t>
            </a:r>
            <a:endParaRPr lang="en-US" sz="2000" dirty="0"/>
          </a:p>
        </p:txBody>
      </p:sp>
      <p:sp>
        <p:nvSpPr>
          <p:cNvPr id="23" name="Text 21"/>
          <p:cNvSpPr txBox="1"/>
          <p:nvPr/>
        </p:nvSpPr>
        <p:spPr>
          <a:xfrm>
            <a:off x="5641848" y="2788920"/>
            <a:ext cx="1280160" cy="82296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Kingpin, mule, victim hierarchy</a:t>
            </a:r>
            <a:endParaRPr lang="en-US" sz="1300" dirty="0"/>
          </a:p>
        </p:txBody>
      </p:sp>
      <p:sp>
        <p:nvSpPr>
          <p:cNvPr id="24" name="Shape 22"/>
          <p:cNvSpPr/>
          <p:nvPr/>
        </p:nvSpPr>
        <p:spPr>
          <a:xfrm>
            <a:off x="7187184" y="1554480"/>
            <a:ext cx="1536192" cy="2148840"/>
          </a:xfrm>
          <a:prstGeom prst="roundRect">
            <a:avLst>
              <a:gd name="adj" fmla="val 7143"/>
            </a:avLst>
          </a:prstGeom>
          <a:solidFill>
            <a:srgbClr val="1F5FBF"/>
          </a:solidFill>
          <a:ln w="12700">
            <a:solidFill>
              <a:srgbClr val="1F5FBF"/>
            </a:solidFill>
            <a:prstDash val="solid"/>
          </a:ln>
        </p:spPr>
      </p:sp>
      <p:sp>
        <p:nvSpPr>
          <p:cNvPr id="25" name="Shape 23"/>
          <p:cNvSpPr/>
          <p:nvPr/>
        </p:nvSpPr>
        <p:spPr>
          <a:xfrm>
            <a:off x="7324344" y="1709928"/>
            <a:ext cx="420624" cy="420624"/>
          </a:xfrm>
          <a:prstGeom prst="ellipse">
            <a:avLst/>
          </a:prstGeom>
          <a:solidFill>
            <a:srgbClr val="FFFFFF"/>
          </a:solidFill>
          <a:ln w="12700">
            <a:solidFill>
              <a:srgbClr val="FFFFFF"/>
            </a:solidFill>
            <a:prstDash val="solid"/>
          </a:ln>
        </p:spPr>
      </p:sp>
      <p:sp>
        <p:nvSpPr>
          <p:cNvPr id="26" name="Text 24"/>
          <p:cNvSpPr txBox="1"/>
          <p:nvPr/>
        </p:nvSpPr>
        <p:spPr>
          <a:xfrm>
            <a:off x="7324344" y="1709928"/>
            <a:ext cx="420624" cy="420624"/>
          </a:xfrm>
          <a:prstGeom prst="rect">
            <a:avLst/>
          </a:prstGeom>
          <a:noFill/>
          <a:ln/>
        </p:spPr>
        <p:txBody>
          <a:bodyPr wrap="square" lIns="0" tIns="0" rIns="0" bIns="0" rtlCol="0" anchor="ctr"/>
          <a:lstStyle/>
          <a:p>
            <a:pPr algn="ctr" indent="0" marL="0">
              <a:buNone/>
            </a:pPr>
            <a:r>
              <a:rPr lang="en-US" sz="1500" b="1" dirty="0">
                <a:solidFill>
                  <a:srgbClr val="1F5FB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7324344" y="2331720"/>
            <a:ext cx="128016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Brief</a:t>
            </a:r>
            <a:endParaRPr lang="en-US" sz="2000" dirty="0"/>
          </a:p>
        </p:txBody>
      </p:sp>
      <p:sp>
        <p:nvSpPr>
          <p:cNvPr id="28" name="Text 26"/>
          <p:cNvSpPr txBox="1"/>
          <p:nvPr/>
        </p:nvSpPr>
        <p:spPr>
          <a:xfrm>
            <a:off x="7324344" y="2788920"/>
            <a:ext cx="1280160" cy="822960"/>
          </a:xfrm>
          <a:prstGeom prst="rect">
            <a:avLst/>
          </a:prstGeom>
          <a:noFill/>
          <a:ln/>
        </p:spPr>
        <p:txBody>
          <a:bodyPr wrap="square" lIns="0" tIns="0" rIns="0" bIns="0" rtlCol="0" anchor="t"/>
          <a:lstStyle/>
          <a:p>
            <a:pPr indent="0" marL="0">
              <a:buNone/>
            </a:pPr>
            <a:r>
              <a:rPr lang="en-US" sz="1300" dirty="0">
                <a:solidFill>
                  <a:srgbClr val="E4EEFB"/>
                </a:solidFill>
                <a:latin typeface="Calibri" pitchFamily="34" charset="0"/>
                <a:ea typeface="Calibri" pitchFamily="34" charset="-122"/>
                <a:cs typeface="Calibri" pitchFamily="34" charset="-120"/>
              </a:rPr>
              <a:t>FIR-ready brief with actions</a:t>
            </a:r>
            <a:endParaRPr lang="en-US" sz="1300" dirty="0"/>
          </a:p>
        </p:txBody>
      </p:sp>
      <p:sp>
        <p:nvSpPr>
          <p:cNvPr id="29" name="Shape 27"/>
          <p:cNvSpPr/>
          <p:nvPr/>
        </p:nvSpPr>
        <p:spPr>
          <a:xfrm>
            <a:off x="457200" y="3977640"/>
            <a:ext cx="8229600" cy="548640"/>
          </a:xfrm>
          <a:prstGeom prst="roundRect">
            <a:avLst>
              <a:gd name="adj" fmla="val 20000"/>
            </a:avLst>
          </a:prstGeom>
          <a:solidFill>
            <a:srgbClr val="0B2545"/>
          </a:solidFill>
          <a:ln w="12700">
            <a:solidFill>
              <a:srgbClr val="0B2545"/>
            </a:solidFill>
            <a:prstDash val="solid"/>
          </a:ln>
        </p:spPr>
      </p:sp>
      <p:sp>
        <p:nvSpPr>
          <p:cNvPr id="30" name="Text 28"/>
          <p:cNvSpPr txBox="1"/>
          <p:nvPr/>
        </p:nvSpPr>
        <p:spPr>
          <a:xfrm>
            <a:off x="685800" y="3977640"/>
            <a:ext cx="7772400" cy="54864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Bob orchestrates every step: investigators ask in plain language, Bob calls the right tools.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One graph, four engines, one brief</a:t>
            </a:r>
            <a:endParaRPr lang="en-US" sz="3200" dirty="0"/>
          </a:p>
        </p:txBody>
      </p:sp>
      <p:sp>
        <p:nvSpPr>
          <p:cNvPr id="3" name="Shape 1"/>
          <p:cNvSpPr/>
          <p:nvPr/>
        </p:nvSpPr>
        <p:spPr>
          <a:xfrm>
            <a:off x="457200" y="1051560"/>
            <a:ext cx="5212080" cy="566928"/>
          </a:xfrm>
          <a:prstGeom prst="roundRect">
            <a:avLst>
              <a:gd name="adj" fmla="val 19355"/>
            </a:avLst>
          </a:prstGeom>
          <a:solidFill>
            <a:srgbClr val="D6E6F8"/>
          </a:solidFill>
          <a:ln w="12700">
            <a:solidFill>
              <a:srgbClr val="D6E6F8"/>
            </a:solidFill>
            <a:prstDash val="solid"/>
          </a:ln>
        </p:spPr>
      </p:sp>
      <p:sp>
        <p:nvSpPr>
          <p:cNvPr id="4" name="Text 2"/>
          <p:cNvSpPr txBox="1"/>
          <p:nvPr/>
        </p:nvSpPr>
        <p:spPr>
          <a:xfrm>
            <a:off x="640080" y="1051560"/>
            <a:ext cx="4937760" cy="566928"/>
          </a:xfrm>
          <a:prstGeom prst="rect">
            <a:avLst/>
          </a:prstGeom>
          <a:noFill/>
          <a:ln/>
        </p:spPr>
        <p:txBody>
          <a:bodyPr wrap="square" lIns="0" tIns="0" rIns="0" bIns="0" rtlCol="0" anchor="ctr"/>
          <a:lstStyle/>
          <a:p>
            <a:pPr indent="0" marL="0">
              <a:buNone/>
            </a:pPr>
            <a:r>
              <a:rPr lang="en-US" sz="1250" b="1" dirty="0">
                <a:solidFill>
                  <a:srgbClr val="0B2545"/>
                </a:solidFill>
                <a:latin typeface="Calibri" pitchFamily="34" charset="0"/>
                <a:ea typeface="Calibri" pitchFamily="34" charset="-122"/>
                <a:cs typeface="Calibri" pitchFamily="34" charset="-120"/>
              </a:rPr>
              <a:t>Investigator UI   </a:t>
            </a:r>
            <a:pPr indent="0" marL="0">
              <a:buNone/>
            </a:pPr>
            <a:r>
              <a:rPr lang="en-US" sz="1250" dirty="0">
                <a:solidFill>
                  <a:srgbClr val="12243F"/>
                </a:solidFill>
                <a:latin typeface="Calibri" pitchFamily="34" charset="0"/>
                <a:ea typeface="Calibri" pitchFamily="34" charset="-122"/>
                <a:cs typeface="Calibri" pitchFamily="34" charset="-120"/>
              </a:rPr>
              <a:t>Graph, timeline, SIM-swap lane, disruption before/after</a:t>
            </a:r>
            <a:endParaRPr lang="en-US" sz="1250" dirty="0"/>
          </a:p>
        </p:txBody>
      </p:sp>
      <p:sp>
        <p:nvSpPr>
          <p:cNvPr id="5" name="Shape 3"/>
          <p:cNvSpPr/>
          <p:nvPr/>
        </p:nvSpPr>
        <p:spPr>
          <a:xfrm>
            <a:off x="5852160" y="1051560"/>
            <a:ext cx="2834640" cy="566928"/>
          </a:xfrm>
          <a:prstGeom prst="roundRect">
            <a:avLst>
              <a:gd name="adj" fmla="val 19355"/>
            </a:avLst>
          </a:prstGeom>
          <a:solidFill>
            <a:srgbClr val="1F5FBF"/>
          </a:solidFill>
          <a:ln w="12700">
            <a:solidFill>
              <a:srgbClr val="1F5FBF"/>
            </a:solidFill>
            <a:prstDash val="solid"/>
          </a:ln>
        </p:spPr>
      </p:sp>
      <p:sp>
        <p:nvSpPr>
          <p:cNvPr id="6" name="Text 4"/>
          <p:cNvSpPr txBox="1"/>
          <p:nvPr/>
        </p:nvSpPr>
        <p:spPr>
          <a:xfrm>
            <a:off x="6035040" y="1051560"/>
            <a:ext cx="2560320" cy="566928"/>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Bob Chat   </a:t>
            </a:r>
            <a:pPr indent="0" marL="0">
              <a:buNone/>
            </a:pPr>
            <a:r>
              <a:rPr lang="en-US" sz="1250" dirty="0">
                <a:solidFill>
                  <a:srgbClr val="FFFFFF"/>
                </a:solidFill>
                <a:latin typeface="Calibri" pitchFamily="34" charset="0"/>
                <a:ea typeface="Calibri" pitchFamily="34" charset="-122"/>
                <a:cs typeface="Calibri" pitchFamily="34" charset="-120"/>
              </a:rPr>
              <a:t>Ask in plain language</a:t>
            </a:r>
            <a:endParaRPr lang="en-US" sz="1250" dirty="0"/>
          </a:p>
        </p:txBody>
      </p:sp>
      <p:sp>
        <p:nvSpPr>
          <p:cNvPr id="7" name="Shape 5"/>
          <p:cNvSpPr/>
          <p:nvPr/>
        </p:nvSpPr>
        <p:spPr>
          <a:xfrm>
            <a:off x="457200" y="1737360"/>
            <a:ext cx="8229600" cy="502920"/>
          </a:xfrm>
          <a:prstGeom prst="roundRect">
            <a:avLst>
              <a:gd name="adj" fmla="val 21818"/>
            </a:avLst>
          </a:prstGeom>
          <a:solidFill>
            <a:srgbClr val="0B2545"/>
          </a:solidFill>
          <a:ln w="12700">
            <a:solidFill>
              <a:srgbClr val="0B2545"/>
            </a:solidFill>
            <a:prstDash val="solid"/>
          </a:ln>
        </p:spPr>
      </p:sp>
      <p:sp>
        <p:nvSpPr>
          <p:cNvPr id="8" name="Text 6"/>
          <p:cNvSpPr txBox="1"/>
          <p:nvPr/>
        </p:nvSpPr>
        <p:spPr>
          <a:xfrm>
            <a:off x="640080" y="1737360"/>
            <a:ext cx="786384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Bob Orchestrator   </a:t>
            </a:r>
            <a:pPr indent="0" marL="0">
              <a:buNone/>
            </a:pPr>
            <a:r>
              <a:rPr lang="en-US" sz="1350" dirty="0">
                <a:solidFill>
                  <a:srgbClr val="FFFFFF"/>
                </a:solidFill>
                <a:latin typeface="Calibri" pitchFamily="34" charset="0"/>
                <a:ea typeface="Calibri" pitchFamily="34" charset="-122"/>
                <a:cs typeface="Calibri" pitchFamily="34" charset="-120"/>
              </a:rPr>
              <a:t>Natural language to tools, routing every question to the right engine</a:t>
            </a:r>
            <a:endParaRPr lang="en-US" sz="1350" dirty="0"/>
          </a:p>
        </p:txBody>
      </p:sp>
      <p:sp>
        <p:nvSpPr>
          <p:cNvPr id="9" name="Shape 7"/>
          <p:cNvSpPr/>
          <p:nvPr/>
        </p:nvSpPr>
        <p:spPr>
          <a:xfrm>
            <a:off x="457200" y="2359152"/>
            <a:ext cx="1938528" cy="1024128"/>
          </a:xfrm>
          <a:prstGeom prst="roundRect">
            <a:avLst>
              <a:gd name="adj" fmla="val 10714"/>
            </a:avLst>
          </a:prstGeom>
          <a:solidFill>
            <a:srgbClr val="EAF2FC"/>
          </a:solidFill>
          <a:ln w="12700">
            <a:solidFill>
              <a:srgbClr val="EAF2FC"/>
            </a:solidFill>
            <a:prstDash val="solid"/>
          </a:ln>
        </p:spPr>
      </p:sp>
      <p:sp>
        <p:nvSpPr>
          <p:cNvPr id="10" name="Text 8"/>
          <p:cNvSpPr txBox="1"/>
          <p:nvPr/>
        </p:nvSpPr>
        <p:spPr>
          <a:xfrm>
            <a:off x="585216" y="2450592"/>
            <a:ext cx="1691640" cy="2743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Entity Engine</a:t>
            </a:r>
            <a:endParaRPr lang="en-US" sz="1400" dirty="0"/>
          </a:p>
        </p:txBody>
      </p:sp>
      <p:sp>
        <p:nvSpPr>
          <p:cNvPr id="11" name="Text 9"/>
          <p:cNvSpPr txBox="1"/>
          <p:nvPr/>
        </p:nvSpPr>
        <p:spPr>
          <a:xfrm>
            <a:off x="585216" y="2743200"/>
            <a:ext cx="1691640" cy="548640"/>
          </a:xfrm>
          <a:prstGeom prst="rect">
            <a:avLst/>
          </a:prstGeom>
          <a:noFill/>
          <a:ln/>
        </p:spPr>
        <p:txBody>
          <a:bodyPr wrap="square" lIns="0" tIns="0" rIns="0" bIns="0" rtlCol="0" anchor="t"/>
          <a:lstStyle/>
          <a:p>
            <a:pPr indent="0" marL="0">
              <a:buNone/>
            </a:pPr>
            <a:r>
              <a:rPr lang="en-US" sz="1100" dirty="0">
                <a:solidFill>
                  <a:srgbClr val="56698A"/>
                </a:solidFill>
                <a:latin typeface="Calibri" pitchFamily="34" charset="0"/>
                <a:ea typeface="Calibri" pitchFamily="34" charset="-122"/>
                <a:cs typeface="Calibri" pitchFamily="34" charset="-120"/>
              </a:rPr>
              <a:t>NER, resolution, normalization</a:t>
            </a:r>
            <a:endParaRPr lang="en-US" sz="1100" dirty="0"/>
          </a:p>
        </p:txBody>
      </p:sp>
      <p:sp>
        <p:nvSpPr>
          <p:cNvPr id="12" name="Shape 10"/>
          <p:cNvSpPr/>
          <p:nvPr/>
        </p:nvSpPr>
        <p:spPr>
          <a:xfrm>
            <a:off x="2551176" y="2359152"/>
            <a:ext cx="1938528" cy="1024128"/>
          </a:xfrm>
          <a:prstGeom prst="roundRect">
            <a:avLst>
              <a:gd name="adj" fmla="val 10714"/>
            </a:avLst>
          </a:prstGeom>
          <a:solidFill>
            <a:srgbClr val="EAF2FC"/>
          </a:solidFill>
          <a:ln w="12700">
            <a:solidFill>
              <a:srgbClr val="EAF2FC"/>
            </a:solidFill>
            <a:prstDash val="solid"/>
          </a:ln>
        </p:spPr>
      </p:sp>
      <p:sp>
        <p:nvSpPr>
          <p:cNvPr id="13" name="Text 11"/>
          <p:cNvSpPr txBox="1"/>
          <p:nvPr/>
        </p:nvSpPr>
        <p:spPr>
          <a:xfrm>
            <a:off x="2679192" y="2450592"/>
            <a:ext cx="1691640" cy="2743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Fraud Engine</a:t>
            </a:r>
            <a:endParaRPr lang="en-US" sz="1400" dirty="0"/>
          </a:p>
        </p:txBody>
      </p:sp>
      <p:sp>
        <p:nvSpPr>
          <p:cNvPr id="14" name="Text 12"/>
          <p:cNvSpPr txBox="1"/>
          <p:nvPr/>
        </p:nvSpPr>
        <p:spPr>
          <a:xfrm>
            <a:off x="2679192" y="2743200"/>
            <a:ext cx="1691640" cy="548640"/>
          </a:xfrm>
          <a:prstGeom prst="rect">
            <a:avLst/>
          </a:prstGeom>
          <a:noFill/>
          <a:ln/>
        </p:spPr>
        <p:txBody>
          <a:bodyPr wrap="square" lIns="0" tIns="0" rIns="0" bIns="0" rtlCol="0" anchor="t"/>
          <a:lstStyle/>
          <a:p>
            <a:pPr indent="0" marL="0">
              <a:buNone/>
            </a:pPr>
            <a:r>
              <a:rPr lang="en-US" sz="1100" dirty="0">
                <a:solidFill>
                  <a:srgbClr val="56698A"/>
                </a:solidFill>
                <a:latin typeface="Calibri" pitchFamily="34" charset="0"/>
                <a:ea typeface="Calibri" pitchFamily="34" charset="-122"/>
                <a:cs typeface="Calibri" pitchFamily="34" charset="-120"/>
              </a:rPr>
              <a:t>Patterns, temporal, centrality, communities, what-if, SIM-swap detector</a:t>
            </a:r>
            <a:endParaRPr lang="en-US" sz="1100" dirty="0"/>
          </a:p>
        </p:txBody>
      </p:sp>
      <p:sp>
        <p:nvSpPr>
          <p:cNvPr id="15" name="Shape 13"/>
          <p:cNvSpPr/>
          <p:nvPr/>
        </p:nvSpPr>
        <p:spPr>
          <a:xfrm>
            <a:off x="4645152" y="2359152"/>
            <a:ext cx="1938528" cy="1024128"/>
          </a:xfrm>
          <a:prstGeom prst="roundRect">
            <a:avLst>
              <a:gd name="adj" fmla="val 10714"/>
            </a:avLst>
          </a:prstGeom>
          <a:solidFill>
            <a:srgbClr val="EAF2FC"/>
          </a:solidFill>
          <a:ln w="12700">
            <a:solidFill>
              <a:srgbClr val="EAF2FC"/>
            </a:solidFill>
            <a:prstDash val="solid"/>
          </a:ln>
        </p:spPr>
      </p:sp>
      <p:sp>
        <p:nvSpPr>
          <p:cNvPr id="16" name="Text 14"/>
          <p:cNvSpPr txBox="1"/>
          <p:nvPr/>
        </p:nvSpPr>
        <p:spPr>
          <a:xfrm>
            <a:off x="4773168" y="2450592"/>
            <a:ext cx="1691640" cy="274320"/>
          </a:xfrm>
          <a:prstGeom prst="rect">
            <a:avLst/>
          </a:prstGeom>
          <a:noFill/>
          <a:ln/>
        </p:spPr>
        <p:txBody>
          <a:bodyPr wrap="square" lIns="0" tIns="0" rIns="0" bIns="0" rtlCol="0" anchor="t"/>
          <a:lstStyle/>
          <a:p>
            <a:pPr indent="0" marL="0">
              <a:buNone/>
            </a:pPr>
            <a:r>
              <a:rPr lang="en-US" sz="1400" b="1" dirty="0">
                <a:solidFill>
                  <a:srgbClr val="0B2545"/>
                </a:solidFill>
                <a:latin typeface="Calibri" pitchFamily="34" charset="0"/>
                <a:ea typeface="Calibri" pitchFamily="34" charset="-122"/>
                <a:cs typeface="Calibri" pitchFamily="34" charset="-120"/>
              </a:rPr>
              <a:t>Evidence Engine</a:t>
            </a:r>
            <a:endParaRPr lang="en-US" sz="1400" dirty="0"/>
          </a:p>
        </p:txBody>
      </p:sp>
      <p:sp>
        <p:nvSpPr>
          <p:cNvPr id="17" name="Text 15"/>
          <p:cNvSpPr txBox="1"/>
          <p:nvPr/>
        </p:nvSpPr>
        <p:spPr>
          <a:xfrm>
            <a:off x="4773168" y="2743200"/>
            <a:ext cx="1691640" cy="548640"/>
          </a:xfrm>
          <a:prstGeom prst="rect">
            <a:avLst/>
          </a:prstGeom>
          <a:noFill/>
          <a:ln/>
        </p:spPr>
        <p:txBody>
          <a:bodyPr wrap="square" lIns="0" tIns="0" rIns="0" bIns="0" rtlCol="0" anchor="t"/>
          <a:lstStyle/>
          <a:p>
            <a:pPr indent="0" marL="0">
              <a:buNone/>
            </a:pPr>
            <a:r>
              <a:rPr lang="en-US" sz="1100" dirty="0">
                <a:solidFill>
                  <a:srgbClr val="56698A"/>
                </a:solidFill>
                <a:latin typeface="Calibri" pitchFamily="34" charset="0"/>
                <a:ea typeface="Calibri" pitchFamily="34" charset="-122"/>
                <a:cs typeface="Calibri" pitchFamily="34" charset="-120"/>
              </a:rPr>
              <a:t>Provenance, confidence, contradictions</a:t>
            </a:r>
            <a:endParaRPr lang="en-US" sz="1100" dirty="0"/>
          </a:p>
        </p:txBody>
      </p:sp>
      <p:sp>
        <p:nvSpPr>
          <p:cNvPr id="18" name="Shape 16"/>
          <p:cNvSpPr/>
          <p:nvPr/>
        </p:nvSpPr>
        <p:spPr>
          <a:xfrm>
            <a:off x="6739128" y="2359152"/>
            <a:ext cx="1938528" cy="1024128"/>
          </a:xfrm>
          <a:prstGeom prst="roundRect">
            <a:avLst>
              <a:gd name="adj" fmla="val 10714"/>
            </a:avLst>
          </a:prstGeom>
          <a:solidFill>
            <a:srgbClr val="1F5FBF"/>
          </a:solidFill>
          <a:ln w="12700">
            <a:solidFill>
              <a:srgbClr val="1F5FBF"/>
            </a:solidFill>
            <a:prstDash val="solid"/>
          </a:ln>
        </p:spPr>
      </p:sp>
      <p:sp>
        <p:nvSpPr>
          <p:cNvPr id="19" name="Text 17"/>
          <p:cNvSpPr txBox="1"/>
          <p:nvPr/>
        </p:nvSpPr>
        <p:spPr>
          <a:xfrm>
            <a:off x="6867144" y="2450592"/>
            <a:ext cx="1691640" cy="27432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Action Engine</a:t>
            </a:r>
            <a:endParaRPr lang="en-US" sz="1400" dirty="0"/>
          </a:p>
        </p:txBody>
      </p:sp>
      <p:sp>
        <p:nvSpPr>
          <p:cNvPr id="20" name="Text 18"/>
          <p:cNvSpPr txBox="1"/>
          <p:nvPr/>
        </p:nvSpPr>
        <p:spPr>
          <a:xfrm>
            <a:off x="6867144" y="2743200"/>
            <a:ext cx="1691640" cy="548640"/>
          </a:xfrm>
          <a:prstGeom prst="rect">
            <a:avLst/>
          </a:prstGeom>
          <a:noFill/>
          <a:ln/>
        </p:spPr>
        <p:txBody>
          <a:bodyPr wrap="square" lIns="0" tIns="0" rIns="0" bIns="0" rtlCol="0" anchor="t"/>
          <a:lstStyle/>
          <a:p>
            <a:pPr indent="0" marL="0">
              <a:buNone/>
            </a:pPr>
            <a:r>
              <a:rPr lang="en-US" sz="1100" dirty="0">
                <a:solidFill>
                  <a:srgbClr val="E4EEFB"/>
                </a:solidFill>
                <a:latin typeface="Calibri" pitchFamily="34" charset="0"/>
                <a:ea typeface="Calibri" pitchFamily="34" charset="-122"/>
                <a:cs typeface="Calibri" pitchFamily="34" charset="-120"/>
              </a:rPr>
              <a:t>Disruption plan, min-cut solver, before/after simulation</a:t>
            </a:r>
            <a:endParaRPr lang="en-US" sz="1100" dirty="0"/>
          </a:p>
        </p:txBody>
      </p:sp>
      <p:sp>
        <p:nvSpPr>
          <p:cNvPr id="21" name="Shape 19"/>
          <p:cNvSpPr/>
          <p:nvPr/>
        </p:nvSpPr>
        <p:spPr>
          <a:xfrm>
            <a:off x="457200" y="3511296"/>
            <a:ext cx="8229600" cy="713232"/>
          </a:xfrm>
          <a:prstGeom prst="roundRect">
            <a:avLst>
              <a:gd name="adj" fmla="val 15385"/>
            </a:avLst>
          </a:prstGeom>
          <a:solidFill>
            <a:srgbClr val="D6E6F8"/>
          </a:solidFill>
          <a:ln w="12700">
            <a:solidFill>
              <a:srgbClr val="D6E6F8"/>
            </a:solidFill>
            <a:prstDash val="solid"/>
          </a:ln>
        </p:spPr>
      </p:sp>
      <p:sp>
        <p:nvSpPr>
          <p:cNvPr id="22" name="Text 20"/>
          <p:cNvSpPr txBox="1"/>
          <p:nvPr/>
        </p:nvSpPr>
        <p:spPr>
          <a:xfrm>
            <a:off x="640080" y="3511296"/>
            <a:ext cx="1645920" cy="713232"/>
          </a:xfrm>
          <a:prstGeom prst="rect">
            <a:avLst/>
          </a:prstGeom>
          <a:noFill/>
          <a:ln/>
        </p:spPr>
        <p:txBody>
          <a:bodyPr wrap="square" lIns="0" tIns="0" rIns="0" bIns="0" rtlCol="0" anchor="ctr"/>
          <a:lstStyle/>
          <a:p>
            <a:pPr indent="0" marL="0">
              <a:buNone/>
            </a:pPr>
            <a:r>
              <a:rPr lang="en-US" sz="1300" b="1" dirty="0">
                <a:solidFill>
                  <a:srgbClr val="0B2545"/>
                </a:solidFill>
                <a:latin typeface="Calibri" pitchFamily="34" charset="0"/>
                <a:ea typeface="Calibri" pitchFamily="34" charset="-122"/>
                <a:cs typeface="Calibri" pitchFamily="34" charset="-120"/>
              </a:rPr>
              <a:t>Temporal Knowledge Graph</a:t>
            </a:r>
            <a:endParaRPr lang="en-US" sz="1300" dirty="0"/>
          </a:p>
        </p:txBody>
      </p:sp>
      <p:sp>
        <p:nvSpPr>
          <p:cNvPr id="23" name="Shape 21"/>
          <p:cNvSpPr/>
          <p:nvPr/>
        </p:nvSpPr>
        <p:spPr>
          <a:xfrm>
            <a:off x="2377440" y="3675888"/>
            <a:ext cx="731520" cy="384048"/>
          </a:xfrm>
          <a:prstGeom prst="roundRect">
            <a:avLst>
              <a:gd name="adj" fmla="val 21429"/>
            </a:avLst>
          </a:prstGeom>
          <a:solidFill>
            <a:srgbClr val="FFFFFF"/>
          </a:solidFill>
          <a:ln w="12700">
            <a:solidFill>
              <a:srgbClr val="FFFFFF"/>
            </a:solidFill>
            <a:prstDash val="solid"/>
          </a:ln>
        </p:spPr>
      </p:sp>
      <p:sp>
        <p:nvSpPr>
          <p:cNvPr id="24" name="Text 22"/>
          <p:cNvSpPr txBox="1"/>
          <p:nvPr/>
        </p:nvSpPr>
        <p:spPr>
          <a:xfrm>
            <a:off x="2377440"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People</a:t>
            </a:r>
            <a:endParaRPr lang="en-US" sz="950" dirty="0"/>
          </a:p>
        </p:txBody>
      </p:sp>
      <p:sp>
        <p:nvSpPr>
          <p:cNvPr id="25" name="Shape 23"/>
          <p:cNvSpPr/>
          <p:nvPr/>
        </p:nvSpPr>
        <p:spPr>
          <a:xfrm>
            <a:off x="3163824" y="3675888"/>
            <a:ext cx="731520" cy="384048"/>
          </a:xfrm>
          <a:prstGeom prst="roundRect">
            <a:avLst>
              <a:gd name="adj" fmla="val 21429"/>
            </a:avLst>
          </a:prstGeom>
          <a:solidFill>
            <a:srgbClr val="FFFFFF"/>
          </a:solidFill>
          <a:ln w="12700">
            <a:solidFill>
              <a:srgbClr val="FFFFFF"/>
            </a:solidFill>
            <a:prstDash val="solid"/>
          </a:ln>
        </p:spPr>
      </p:sp>
      <p:sp>
        <p:nvSpPr>
          <p:cNvPr id="26" name="Text 24"/>
          <p:cNvSpPr txBox="1"/>
          <p:nvPr/>
        </p:nvSpPr>
        <p:spPr>
          <a:xfrm>
            <a:off x="3163824"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Accounts</a:t>
            </a:r>
            <a:endParaRPr lang="en-US" sz="950" dirty="0"/>
          </a:p>
        </p:txBody>
      </p:sp>
      <p:sp>
        <p:nvSpPr>
          <p:cNvPr id="27" name="Shape 25"/>
          <p:cNvSpPr/>
          <p:nvPr/>
        </p:nvSpPr>
        <p:spPr>
          <a:xfrm>
            <a:off x="3950208" y="3675888"/>
            <a:ext cx="731520" cy="384048"/>
          </a:xfrm>
          <a:prstGeom prst="roundRect">
            <a:avLst>
              <a:gd name="adj" fmla="val 21429"/>
            </a:avLst>
          </a:prstGeom>
          <a:solidFill>
            <a:srgbClr val="FFFFFF"/>
          </a:solidFill>
          <a:ln w="12700">
            <a:solidFill>
              <a:srgbClr val="FFFFFF"/>
            </a:solidFill>
            <a:prstDash val="solid"/>
          </a:ln>
        </p:spPr>
      </p:sp>
      <p:sp>
        <p:nvSpPr>
          <p:cNvPr id="28" name="Text 26"/>
          <p:cNvSpPr txBox="1"/>
          <p:nvPr/>
        </p:nvSpPr>
        <p:spPr>
          <a:xfrm>
            <a:off x="3950208"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SIMs</a:t>
            </a:r>
            <a:endParaRPr lang="en-US" sz="950" dirty="0"/>
          </a:p>
        </p:txBody>
      </p:sp>
      <p:sp>
        <p:nvSpPr>
          <p:cNvPr id="29" name="Shape 27"/>
          <p:cNvSpPr/>
          <p:nvPr/>
        </p:nvSpPr>
        <p:spPr>
          <a:xfrm>
            <a:off x="4736592" y="3675888"/>
            <a:ext cx="731520" cy="384048"/>
          </a:xfrm>
          <a:prstGeom prst="roundRect">
            <a:avLst>
              <a:gd name="adj" fmla="val 21429"/>
            </a:avLst>
          </a:prstGeom>
          <a:solidFill>
            <a:srgbClr val="FFFFFF"/>
          </a:solidFill>
          <a:ln w="12700">
            <a:solidFill>
              <a:srgbClr val="FFFFFF"/>
            </a:solidFill>
            <a:prstDash val="solid"/>
          </a:ln>
        </p:spPr>
      </p:sp>
      <p:sp>
        <p:nvSpPr>
          <p:cNvPr id="30" name="Text 28"/>
          <p:cNvSpPr txBox="1"/>
          <p:nvPr/>
        </p:nvSpPr>
        <p:spPr>
          <a:xfrm>
            <a:off x="4736592"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Devices</a:t>
            </a:r>
            <a:endParaRPr lang="en-US" sz="950" dirty="0"/>
          </a:p>
        </p:txBody>
      </p:sp>
      <p:sp>
        <p:nvSpPr>
          <p:cNvPr id="31" name="Shape 29"/>
          <p:cNvSpPr/>
          <p:nvPr/>
        </p:nvSpPr>
        <p:spPr>
          <a:xfrm>
            <a:off x="5522976" y="3675888"/>
            <a:ext cx="731520" cy="384048"/>
          </a:xfrm>
          <a:prstGeom prst="roundRect">
            <a:avLst>
              <a:gd name="adj" fmla="val 21429"/>
            </a:avLst>
          </a:prstGeom>
          <a:solidFill>
            <a:srgbClr val="FFFFFF"/>
          </a:solidFill>
          <a:ln w="12700">
            <a:solidFill>
              <a:srgbClr val="FFFFFF"/>
            </a:solidFill>
            <a:prstDash val="solid"/>
          </a:ln>
        </p:spPr>
      </p:sp>
      <p:sp>
        <p:nvSpPr>
          <p:cNvPr id="32" name="Text 30"/>
          <p:cNvSpPr txBox="1"/>
          <p:nvPr/>
        </p:nvSpPr>
        <p:spPr>
          <a:xfrm>
            <a:off x="5522976"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Calls</a:t>
            </a:r>
            <a:endParaRPr lang="en-US" sz="950" dirty="0"/>
          </a:p>
        </p:txBody>
      </p:sp>
      <p:sp>
        <p:nvSpPr>
          <p:cNvPr id="33" name="Shape 31"/>
          <p:cNvSpPr/>
          <p:nvPr/>
        </p:nvSpPr>
        <p:spPr>
          <a:xfrm>
            <a:off x="6309360" y="3675888"/>
            <a:ext cx="731520" cy="384048"/>
          </a:xfrm>
          <a:prstGeom prst="roundRect">
            <a:avLst>
              <a:gd name="adj" fmla="val 21429"/>
            </a:avLst>
          </a:prstGeom>
          <a:solidFill>
            <a:srgbClr val="FFFFFF"/>
          </a:solidFill>
          <a:ln w="12700">
            <a:solidFill>
              <a:srgbClr val="FFFFFF"/>
            </a:solidFill>
            <a:prstDash val="solid"/>
          </a:ln>
        </p:spPr>
      </p:sp>
      <p:sp>
        <p:nvSpPr>
          <p:cNvPr id="34" name="Text 32"/>
          <p:cNvSpPr txBox="1"/>
          <p:nvPr/>
        </p:nvSpPr>
        <p:spPr>
          <a:xfrm>
            <a:off x="6309360"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Payments</a:t>
            </a:r>
            <a:endParaRPr lang="en-US" sz="950" dirty="0"/>
          </a:p>
        </p:txBody>
      </p:sp>
      <p:sp>
        <p:nvSpPr>
          <p:cNvPr id="35" name="Shape 33"/>
          <p:cNvSpPr/>
          <p:nvPr/>
        </p:nvSpPr>
        <p:spPr>
          <a:xfrm>
            <a:off x="7095744" y="3675888"/>
            <a:ext cx="731520" cy="384048"/>
          </a:xfrm>
          <a:prstGeom prst="roundRect">
            <a:avLst>
              <a:gd name="adj" fmla="val 21429"/>
            </a:avLst>
          </a:prstGeom>
          <a:solidFill>
            <a:srgbClr val="FFFFFF"/>
          </a:solidFill>
          <a:ln w="12700">
            <a:solidFill>
              <a:srgbClr val="FFFFFF"/>
            </a:solidFill>
            <a:prstDash val="solid"/>
          </a:ln>
        </p:spPr>
      </p:sp>
      <p:sp>
        <p:nvSpPr>
          <p:cNvPr id="36" name="Text 34"/>
          <p:cNvSpPr txBox="1"/>
          <p:nvPr/>
        </p:nvSpPr>
        <p:spPr>
          <a:xfrm>
            <a:off x="7095744"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Locations</a:t>
            </a:r>
            <a:endParaRPr lang="en-US" sz="950" dirty="0"/>
          </a:p>
        </p:txBody>
      </p:sp>
      <p:sp>
        <p:nvSpPr>
          <p:cNvPr id="37" name="Shape 35"/>
          <p:cNvSpPr/>
          <p:nvPr/>
        </p:nvSpPr>
        <p:spPr>
          <a:xfrm>
            <a:off x="7882128" y="3675888"/>
            <a:ext cx="731520" cy="384048"/>
          </a:xfrm>
          <a:prstGeom prst="roundRect">
            <a:avLst>
              <a:gd name="adj" fmla="val 21429"/>
            </a:avLst>
          </a:prstGeom>
          <a:solidFill>
            <a:srgbClr val="FFFFFF"/>
          </a:solidFill>
          <a:ln w="12700">
            <a:solidFill>
              <a:srgbClr val="FFFFFF"/>
            </a:solidFill>
            <a:prstDash val="solid"/>
          </a:ln>
        </p:spPr>
      </p:sp>
      <p:sp>
        <p:nvSpPr>
          <p:cNvPr id="38" name="Text 36"/>
          <p:cNvSpPr txBox="1"/>
          <p:nvPr/>
        </p:nvSpPr>
        <p:spPr>
          <a:xfrm>
            <a:off x="7882128" y="3675888"/>
            <a:ext cx="731520" cy="384048"/>
          </a:xfrm>
          <a:prstGeom prst="rect">
            <a:avLst/>
          </a:prstGeom>
          <a:noFill/>
          <a:ln/>
        </p:spPr>
        <p:txBody>
          <a:bodyPr wrap="square" lIns="0" tIns="0" rIns="0" bIns="0" rtlCol="0" anchor="ctr"/>
          <a:lstStyle/>
          <a:p>
            <a:pPr algn="ctr" indent="0" marL="0">
              <a:buNone/>
            </a:pPr>
            <a:r>
              <a:rPr lang="en-US" sz="950" b="1" dirty="0">
                <a:solidFill>
                  <a:srgbClr val="1F5FBF"/>
                </a:solidFill>
                <a:latin typeface="Calibri" pitchFamily="34" charset="0"/>
                <a:ea typeface="Calibri" pitchFamily="34" charset="-122"/>
                <a:cs typeface="Calibri" pitchFamily="34" charset="-120"/>
              </a:rPr>
              <a:t>SIM swaps</a:t>
            </a:r>
            <a:endParaRPr lang="en-US" sz="950" dirty="0"/>
          </a:p>
        </p:txBody>
      </p:sp>
      <p:sp>
        <p:nvSpPr>
          <p:cNvPr id="39" name="Shape 37"/>
          <p:cNvSpPr/>
          <p:nvPr/>
        </p:nvSpPr>
        <p:spPr>
          <a:xfrm>
            <a:off x="457200" y="4343400"/>
            <a:ext cx="2560320" cy="502920"/>
          </a:xfrm>
          <a:prstGeom prst="roundRect">
            <a:avLst>
              <a:gd name="adj" fmla="val 21818"/>
            </a:avLst>
          </a:prstGeom>
          <a:solidFill>
            <a:srgbClr val="EAF2FC"/>
          </a:solidFill>
          <a:ln w="12700">
            <a:solidFill>
              <a:srgbClr val="EAF2FC"/>
            </a:solidFill>
            <a:prstDash val="solid"/>
          </a:ln>
        </p:spPr>
      </p:sp>
      <p:sp>
        <p:nvSpPr>
          <p:cNvPr id="40" name="Text 38"/>
          <p:cNvSpPr txBox="1"/>
          <p:nvPr/>
        </p:nvSpPr>
        <p:spPr>
          <a:xfrm>
            <a:off x="457200" y="4343400"/>
            <a:ext cx="2560320" cy="50292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Investigation Engine</a:t>
            </a:r>
            <a:endParaRPr lang="en-US" sz="1300" dirty="0"/>
          </a:p>
        </p:txBody>
      </p:sp>
      <p:sp>
        <p:nvSpPr>
          <p:cNvPr id="41" name="Text 39"/>
          <p:cNvSpPr txBox="1"/>
          <p:nvPr/>
        </p:nvSpPr>
        <p:spPr>
          <a:xfrm>
            <a:off x="3017520" y="4343400"/>
            <a:ext cx="274320" cy="502920"/>
          </a:xfrm>
          <a:prstGeom prst="rect">
            <a:avLst/>
          </a:prstGeom>
          <a:noFill/>
          <a:ln/>
        </p:spPr>
        <p:txBody>
          <a:bodyPr wrap="square" lIns="0" tIns="0" rIns="0" bIns="0" rtlCol="0" anchor="ctr"/>
          <a:lstStyle/>
          <a:p>
            <a:pPr algn="ctr" indent="0" marL="0">
              <a:buNone/>
            </a:pPr>
            <a:r>
              <a:rPr lang="en-US" sz="1800" b="1" dirty="0">
                <a:solidFill>
                  <a:srgbClr val="1F5FBF"/>
                </a:solidFill>
                <a:latin typeface="Calibri" pitchFamily="34" charset="0"/>
                <a:ea typeface="Calibri" pitchFamily="34" charset="-122"/>
                <a:cs typeface="Calibri" pitchFamily="34" charset="-120"/>
              </a:rPr>
              <a:t>&gt;</a:t>
            </a:r>
            <a:endParaRPr lang="en-US" sz="1800" dirty="0"/>
          </a:p>
        </p:txBody>
      </p:sp>
      <p:sp>
        <p:nvSpPr>
          <p:cNvPr id="42" name="Shape 40"/>
          <p:cNvSpPr/>
          <p:nvPr/>
        </p:nvSpPr>
        <p:spPr>
          <a:xfrm>
            <a:off x="3291840" y="4343400"/>
            <a:ext cx="2560320" cy="502920"/>
          </a:xfrm>
          <a:prstGeom prst="roundRect">
            <a:avLst>
              <a:gd name="adj" fmla="val 21818"/>
            </a:avLst>
          </a:prstGeom>
          <a:solidFill>
            <a:srgbClr val="EAF2FC"/>
          </a:solidFill>
          <a:ln w="12700">
            <a:solidFill>
              <a:srgbClr val="EAF2FC"/>
            </a:solidFill>
            <a:prstDash val="solid"/>
          </a:ln>
        </p:spPr>
      </p:sp>
      <p:sp>
        <p:nvSpPr>
          <p:cNvPr id="43" name="Text 41"/>
          <p:cNvSpPr txBox="1"/>
          <p:nvPr/>
        </p:nvSpPr>
        <p:spPr>
          <a:xfrm>
            <a:off x="3291840" y="4343400"/>
            <a:ext cx="2560320" cy="502920"/>
          </a:xfrm>
          <a:prstGeom prst="rect">
            <a:avLst/>
          </a:prstGeom>
          <a:noFill/>
          <a:ln/>
        </p:spPr>
        <p:txBody>
          <a:bodyPr wrap="square" lIns="0" tIns="0" rIns="0" bIns="0" rtlCol="0" anchor="ctr"/>
          <a:lstStyle/>
          <a:p>
            <a:pPr algn="ctr" indent="0" marL="0">
              <a:buNone/>
            </a:pPr>
            <a:r>
              <a:rPr lang="en-US" sz="1300" b="1" dirty="0">
                <a:solidFill>
                  <a:srgbClr val="0B2545"/>
                </a:solidFill>
                <a:latin typeface="Calibri" pitchFamily="34" charset="0"/>
                <a:ea typeface="Calibri" pitchFamily="34" charset="-122"/>
                <a:cs typeface="Calibri" pitchFamily="34" charset="-120"/>
              </a:rPr>
              <a:t>Legal and Compliance Layer</a:t>
            </a:r>
            <a:endParaRPr lang="en-US" sz="1300" dirty="0"/>
          </a:p>
        </p:txBody>
      </p:sp>
      <p:sp>
        <p:nvSpPr>
          <p:cNvPr id="44" name="Text 42"/>
          <p:cNvSpPr txBox="1"/>
          <p:nvPr/>
        </p:nvSpPr>
        <p:spPr>
          <a:xfrm>
            <a:off x="5852160" y="4343400"/>
            <a:ext cx="274320" cy="502920"/>
          </a:xfrm>
          <a:prstGeom prst="rect">
            <a:avLst/>
          </a:prstGeom>
          <a:noFill/>
          <a:ln/>
        </p:spPr>
        <p:txBody>
          <a:bodyPr wrap="square" lIns="0" tIns="0" rIns="0" bIns="0" rtlCol="0" anchor="ctr"/>
          <a:lstStyle/>
          <a:p>
            <a:pPr algn="ctr" indent="0" marL="0">
              <a:buNone/>
            </a:pPr>
            <a:r>
              <a:rPr lang="en-US" sz="1800" b="1" dirty="0">
                <a:solidFill>
                  <a:srgbClr val="1F5FBF"/>
                </a:solidFill>
                <a:latin typeface="Calibri" pitchFamily="34" charset="0"/>
                <a:ea typeface="Calibri" pitchFamily="34" charset="-122"/>
                <a:cs typeface="Calibri" pitchFamily="34" charset="-120"/>
              </a:rPr>
              <a:t>&gt;</a:t>
            </a:r>
            <a:endParaRPr lang="en-US" sz="1800" dirty="0"/>
          </a:p>
        </p:txBody>
      </p:sp>
      <p:sp>
        <p:nvSpPr>
          <p:cNvPr id="45" name="Shape 43"/>
          <p:cNvSpPr/>
          <p:nvPr/>
        </p:nvSpPr>
        <p:spPr>
          <a:xfrm>
            <a:off x="6126480" y="4343400"/>
            <a:ext cx="2560320" cy="502920"/>
          </a:xfrm>
          <a:prstGeom prst="roundRect">
            <a:avLst>
              <a:gd name="adj" fmla="val 21818"/>
            </a:avLst>
          </a:prstGeom>
          <a:solidFill>
            <a:srgbClr val="0B2545"/>
          </a:solidFill>
          <a:ln w="12700">
            <a:solidFill>
              <a:srgbClr val="0B2545"/>
            </a:solidFill>
            <a:prstDash val="solid"/>
          </a:ln>
        </p:spPr>
      </p:sp>
      <p:sp>
        <p:nvSpPr>
          <p:cNvPr id="46" name="Text 44"/>
          <p:cNvSpPr txBox="1"/>
          <p:nvPr/>
        </p:nvSpPr>
        <p:spPr>
          <a:xfrm>
            <a:off x="6126480" y="4343400"/>
            <a:ext cx="25603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Case Brief Generator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Meet Bob: your investigation copilot</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Illustrative conversation on mock data</a:t>
            </a:r>
            <a:endParaRPr lang="en-US" sz="1500" dirty="0"/>
          </a:p>
        </p:txBody>
      </p:sp>
      <p:sp>
        <p:nvSpPr>
          <p:cNvPr id="4" name="Shape 2"/>
          <p:cNvSpPr/>
          <p:nvPr/>
        </p:nvSpPr>
        <p:spPr>
          <a:xfrm>
            <a:off x="1920240" y="1463040"/>
            <a:ext cx="3657600" cy="548640"/>
          </a:xfrm>
          <a:prstGeom prst="roundRect">
            <a:avLst>
              <a:gd name="adj" fmla="val 20000"/>
            </a:avLst>
          </a:prstGeom>
          <a:solidFill>
            <a:srgbClr val="D6E6F8"/>
          </a:solidFill>
          <a:ln w="12700">
            <a:solidFill>
              <a:srgbClr val="D6E6F8"/>
            </a:solidFill>
            <a:prstDash val="solid"/>
          </a:ln>
        </p:spPr>
      </p:sp>
      <p:sp>
        <p:nvSpPr>
          <p:cNvPr id="5" name="Text 3"/>
          <p:cNvSpPr txBox="1"/>
          <p:nvPr/>
        </p:nvSpPr>
        <p:spPr>
          <a:xfrm>
            <a:off x="2103120" y="1463040"/>
            <a:ext cx="3291840" cy="548640"/>
          </a:xfrm>
          <a:prstGeom prst="rect">
            <a:avLst/>
          </a:prstGeom>
          <a:noFill/>
          <a:ln/>
        </p:spPr>
        <p:txBody>
          <a:bodyPr wrap="square" lIns="0" tIns="0" rIns="0" bIns="0" rtlCol="0" anchor="ctr"/>
          <a:lstStyle/>
          <a:p>
            <a:pPr indent="0" marL="0">
              <a:buNone/>
            </a:pPr>
            <a:r>
              <a:rPr lang="en-US" sz="1300" dirty="0">
                <a:solidFill>
                  <a:srgbClr val="0B2545"/>
                </a:solidFill>
                <a:latin typeface="Calibri" pitchFamily="34" charset="0"/>
                <a:ea typeface="Calibri" pitchFamily="34" charset="-122"/>
                <a:cs typeface="Calibri" pitchFamily="34" charset="-120"/>
              </a:rPr>
              <a:t>Who is the kingpin in this ring?</a:t>
            </a:r>
            <a:endParaRPr lang="en-US" sz="1300" dirty="0"/>
          </a:p>
        </p:txBody>
      </p:sp>
      <p:sp>
        <p:nvSpPr>
          <p:cNvPr id="6" name="Shape 4"/>
          <p:cNvSpPr/>
          <p:nvPr/>
        </p:nvSpPr>
        <p:spPr>
          <a:xfrm>
            <a:off x="457200" y="2148840"/>
            <a:ext cx="4480560" cy="868680"/>
          </a:xfrm>
          <a:prstGeom prst="roundRect">
            <a:avLst>
              <a:gd name="adj" fmla="val 12632"/>
            </a:avLst>
          </a:prstGeom>
          <a:solidFill>
            <a:srgbClr val="0B2545"/>
          </a:solidFill>
          <a:ln w="12700">
            <a:solidFill>
              <a:srgbClr val="0B2545"/>
            </a:solidFill>
            <a:prstDash val="solid"/>
          </a:ln>
        </p:spPr>
      </p:sp>
      <p:sp>
        <p:nvSpPr>
          <p:cNvPr id="7" name="Text 5"/>
          <p:cNvSpPr txBox="1"/>
          <p:nvPr/>
        </p:nvSpPr>
        <p:spPr>
          <a:xfrm>
            <a:off x="640080" y="2148840"/>
            <a:ext cx="411480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Top candidate: account A-4821. It receives funds from 3 mules through 27 transfers within 48 hours.</a:t>
            </a:r>
            <a:endParaRPr lang="en-US" sz="1300" dirty="0"/>
          </a:p>
        </p:txBody>
      </p:sp>
      <p:sp>
        <p:nvSpPr>
          <p:cNvPr id="8" name="Shape 6"/>
          <p:cNvSpPr/>
          <p:nvPr/>
        </p:nvSpPr>
        <p:spPr>
          <a:xfrm>
            <a:off x="1920240" y="3154680"/>
            <a:ext cx="3657600" cy="548640"/>
          </a:xfrm>
          <a:prstGeom prst="roundRect">
            <a:avLst>
              <a:gd name="adj" fmla="val 20000"/>
            </a:avLst>
          </a:prstGeom>
          <a:solidFill>
            <a:srgbClr val="D6E6F8"/>
          </a:solidFill>
          <a:ln w="12700">
            <a:solidFill>
              <a:srgbClr val="D6E6F8"/>
            </a:solidFill>
            <a:prstDash val="solid"/>
          </a:ln>
        </p:spPr>
      </p:sp>
      <p:sp>
        <p:nvSpPr>
          <p:cNvPr id="9" name="Text 7"/>
          <p:cNvSpPr txBox="1"/>
          <p:nvPr/>
        </p:nvSpPr>
        <p:spPr>
          <a:xfrm>
            <a:off x="2103120" y="3154680"/>
            <a:ext cx="3291840" cy="548640"/>
          </a:xfrm>
          <a:prstGeom prst="rect">
            <a:avLst/>
          </a:prstGeom>
          <a:noFill/>
          <a:ln/>
        </p:spPr>
        <p:txBody>
          <a:bodyPr wrap="square" lIns="0" tIns="0" rIns="0" bIns="0" rtlCol="0" anchor="ctr"/>
          <a:lstStyle/>
          <a:p>
            <a:pPr indent="0" marL="0">
              <a:buNone/>
            </a:pPr>
            <a:r>
              <a:rPr lang="en-US" sz="1300" dirty="0">
                <a:solidFill>
                  <a:srgbClr val="0B2545"/>
                </a:solidFill>
                <a:latin typeface="Calibri" pitchFamily="34" charset="0"/>
                <a:ea typeface="Calibri" pitchFamily="34" charset="-122"/>
                <a:cs typeface="Calibri" pitchFamily="34" charset="-120"/>
              </a:rPr>
              <a:t>What if we freeze Mule 2?</a:t>
            </a:r>
            <a:endParaRPr lang="en-US" sz="1300" dirty="0"/>
          </a:p>
        </p:txBody>
      </p:sp>
      <p:sp>
        <p:nvSpPr>
          <p:cNvPr id="10" name="Shape 8"/>
          <p:cNvSpPr/>
          <p:nvPr/>
        </p:nvSpPr>
        <p:spPr>
          <a:xfrm>
            <a:off x="457200" y="3840480"/>
            <a:ext cx="4480560" cy="868680"/>
          </a:xfrm>
          <a:prstGeom prst="roundRect">
            <a:avLst>
              <a:gd name="adj" fmla="val 12632"/>
            </a:avLst>
          </a:prstGeom>
          <a:solidFill>
            <a:srgbClr val="0B2545"/>
          </a:solidFill>
          <a:ln w="12700">
            <a:solidFill>
              <a:srgbClr val="0B2545"/>
            </a:solidFill>
            <a:prstDash val="solid"/>
          </a:ln>
        </p:spPr>
      </p:sp>
      <p:sp>
        <p:nvSpPr>
          <p:cNvPr id="11" name="Text 9"/>
          <p:cNvSpPr txBox="1"/>
          <p:nvPr/>
        </p:nvSpPr>
        <p:spPr>
          <a:xfrm>
            <a:off x="640080" y="3840480"/>
            <a:ext cx="4114800" cy="86868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Freezing 2 accounts cuts about 80% of onward fund flow. Before/after view is ready.</a:t>
            </a:r>
            <a:endParaRPr lang="en-US" sz="1300" dirty="0"/>
          </a:p>
        </p:txBody>
      </p:sp>
      <p:sp>
        <p:nvSpPr>
          <p:cNvPr id="12" name="Shape 10"/>
          <p:cNvSpPr/>
          <p:nvPr/>
        </p:nvSpPr>
        <p:spPr>
          <a:xfrm>
            <a:off x="5852160" y="1463040"/>
            <a:ext cx="2834640" cy="3246120"/>
          </a:xfrm>
          <a:prstGeom prst="roundRect">
            <a:avLst>
              <a:gd name="adj" fmla="val 3871"/>
            </a:avLst>
          </a:prstGeom>
          <a:solidFill>
            <a:srgbClr val="EAF2FC"/>
          </a:solidFill>
          <a:ln w="12700">
            <a:solidFill>
              <a:srgbClr val="EAF2FC"/>
            </a:solidFill>
            <a:prstDash val="solid"/>
          </a:ln>
        </p:spPr>
      </p:sp>
      <p:sp>
        <p:nvSpPr>
          <p:cNvPr id="13" name="Text 11"/>
          <p:cNvSpPr txBox="1"/>
          <p:nvPr/>
        </p:nvSpPr>
        <p:spPr>
          <a:xfrm>
            <a:off x="6080760" y="1645920"/>
            <a:ext cx="2377440" cy="365760"/>
          </a:xfrm>
          <a:prstGeom prst="rect">
            <a:avLst/>
          </a:prstGeom>
          <a:noFill/>
          <a:ln/>
        </p:spPr>
        <p:txBody>
          <a:bodyPr wrap="square" lIns="0" tIns="0" rIns="0" bIns="0" rtlCol="0" anchor="t"/>
          <a:lstStyle/>
          <a:p>
            <a:pPr indent="0" marL="0">
              <a:buNone/>
            </a:pPr>
            <a:r>
              <a:rPr lang="en-US" sz="2000" b="1" dirty="0">
                <a:solidFill>
                  <a:srgbClr val="0B2545"/>
                </a:solidFill>
                <a:latin typeface="Cambria" pitchFamily="34" charset="0"/>
                <a:ea typeface="Cambria" pitchFamily="34" charset="-122"/>
                <a:cs typeface="Cambria" pitchFamily="34" charset="-120"/>
              </a:rPr>
              <a:t>Bob can</a:t>
            </a:r>
            <a:endParaRPr lang="en-US" sz="2000" dirty="0"/>
          </a:p>
        </p:txBody>
      </p:sp>
      <p:sp>
        <p:nvSpPr>
          <p:cNvPr id="14" name="Shape 12"/>
          <p:cNvSpPr/>
          <p:nvPr/>
        </p:nvSpPr>
        <p:spPr>
          <a:xfrm>
            <a:off x="6080760" y="2249424"/>
            <a:ext cx="182880" cy="182880"/>
          </a:xfrm>
          <a:prstGeom prst="ellipse">
            <a:avLst/>
          </a:prstGeom>
          <a:solidFill>
            <a:srgbClr val="1F5FBF"/>
          </a:solidFill>
          <a:ln w="12700">
            <a:solidFill>
              <a:srgbClr val="1F5FBF"/>
            </a:solidFill>
            <a:prstDash val="solid"/>
          </a:ln>
        </p:spPr>
      </p:sp>
      <p:sp>
        <p:nvSpPr>
          <p:cNvPr id="15" name="Text 13"/>
          <p:cNvSpPr txBox="1"/>
          <p:nvPr/>
        </p:nvSpPr>
        <p:spPr>
          <a:xfrm>
            <a:off x="6400800" y="2194560"/>
            <a:ext cx="2194560" cy="457200"/>
          </a:xfrm>
          <a:prstGeom prst="rect">
            <a:avLst/>
          </a:prstGeom>
          <a:noFill/>
          <a:ln/>
        </p:spPr>
        <p:txBody>
          <a:bodyPr wrap="square" lIns="0" tIns="0" rIns="0" bIns="0" rtlCol="0" anchor="t"/>
          <a:lstStyle/>
          <a:p>
            <a:pPr indent="0" marL="0">
              <a:buNone/>
            </a:pPr>
            <a:r>
              <a:rPr lang="en-US" sz="1250" b="1" dirty="0">
                <a:solidFill>
                  <a:srgbClr val="0B2545"/>
                </a:solidFill>
                <a:latin typeface="Calibri" pitchFamily="34" charset="0"/>
                <a:ea typeface="Calibri" pitchFamily="34" charset="-122"/>
                <a:cs typeface="Calibri" pitchFamily="34" charset="-120"/>
              </a:rPr>
              <a:t>Trace  </a:t>
            </a:r>
            <a:pPr indent="0" marL="0">
              <a:buNone/>
            </a:pPr>
            <a:r>
              <a:rPr lang="en-US" sz="1250" dirty="0">
                <a:solidFill>
                  <a:srgbClr val="56698A"/>
                </a:solidFill>
                <a:latin typeface="Calibri" pitchFamily="34" charset="0"/>
                <a:ea typeface="Calibri" pitchFamily="34" charset="-122"/>
                <a:cs typeface="Calibri" pitchFamily="34" charset="-120"/>
              </a:rPr>
              <a:t>money, call and SIM trails</a:t>
            </a:r>
            <a:endParaRPr lang="en-US" sz="1250" dirty="0"/>
          </a:p>
        </p:txBody>
      </p:sp>
      <p:sp>
        <p:nvSpPr>
          <p:cNvPr id="16" name="Shape 14"/>
          <p:cNvSpPr/>
          <p:nvPr/>
        </p:nvSpPr>
        <p:spPr>
          <a:xfrm>
            <a:off x="6080760" y="2752344"/>
            <a:ext cx="182880" cy="182880"/>
          </a:xfrm>
          <a:prstGeom prst="ellipse">
            <a:avLst/>
          </a:prstGeom>
          <a:solidFill>
            <a:srgbClr val="1F5FBF"/>
          </a:solidFill>
          <a:ln w="12700">
            <a:solidFill>
              <a:srgbClr val="1F5FBF"/>
            </a:solidFill>
            <a:prstDash val="solid"/>
          </a:ln>
        </p:spPr>
      </p:sp>
      <p:sp>
        <p:nvSpPr>
          <p:cNvPr id="17" name="Text 15"/>
          <p:cNvSpPr txBox="1"/>
          <p:nvPr/>
        </p:nvSpPr>
        <p:spPr>
          <a:xfrm>
            <a:off x="6400800" y="2697480"/>
            <a:ext cx="2194560" cy="457200"/>
          </a:xfrm>
          <a:prstGeom prst="rect">
            <a:avLst/>
          </a:prstGeom>
          <a:noFill/>
          <a:ln/>
        </p:spPr>
        <p:txBody>
          <a:bodyPr wrap="square" lIns="0" tIns="0" rIns="0" bIns="0" rtlCol="0" anchor="t"/>
          <a:lstStyle/>
          <a:p>
            <a:pPr indent="0" marL="0">
              <a:buNone/>
            </a:pPr>
            <a:r>
              <a:rPr lang="en-US" sz="1250" b="1" dirty="0">
                <a:solidFill>
                  <a:srgbClr val="0B2545"/>
                </a:solidFill>
                <a:latin typeface="Calibri" pitchFamily="34" charset="0"/>
                <a:ea typeface="Calibri" pitchFamily="34" charset="-122"/>
                <a:cs typeface="Calibri" pitchFamily="34" charset="-120"/>
              </a:rPr>
              <a:t>Explain  </a:t>
            </a:r>
            <a:pPr indent="0" marL="0">
              <a:buNone/>
            </a:pPr>
            <a:r>
              <a:rPr lang="en-US" sz="1250" dirty="0">
                <a:solidFill>
                  <a:srgbClr val="56698A"/>
                </a:solidFill>
                <a:latin typeface="Calibri" pitchFamily="34" charset="0"/>
                <a:ea typeface="Calibri" pitchFamily="34" charset="-122"/>
                <a:cs typeface="Calibri" pitchFamily="34" charset="-120"/>
              </a:rPr>
              <a:t>why an account is flagged</a:t>
            </a:r>
            <a:endParaRPr lang="en-US" sz="1250" dirty="0"/>
          </a:p>
        </p:txBody>
      </p:sp>
      <p:sp>
        <p:nvSpPr>
          <p:cNvPr id="18" name="Shape 16"/>
          <p:cNvSpPr/>
          <p:nvPr/>
        </p:nvSpPr>
        <p:spPr>
          <a:xfrm>
            <a:off x="6080760" y="3255264"/>
            <a:ext cx="182880" cy="182880"/>
          </a:xfrm>
          <a:prstGeom prst="ellipse">
            <a:avLst/>
          </a:prstGeom>
          <a:solidFill>
            <a:srgbClr val="1F5FBF"/>
          </a:solidFill>
          <a:ln w="12700">
            <a:solidFill>
              <a:srgbClr val="1F5FBF"/>
            </a:solidFill>
            <a:prstDash val="solid"/>
          </a:ln>
        </p:spPr>
      </p:sp>
      <p:sp>
        <p:nvSpPr>
          <p:cNvPr id="19" name="Text 17"/>
          <p:cNvSpPr txBox="1"/>
          <p:nvPr/>
        </p:nvSpPr>
        <p:spPr>
          <a:xfrm>
            <a:off x="6400800" y="3200400"/>
            <a:ext cx="2194560" cy="457200"/>
          </a:xfrm>
          <a:prstGeom prst="rect">
            <a:avLst/>
          </a:prstGeom>
          <a:noFill/>
          <a:ln/>
        </p:spPr>
        <p:txBody>
          <a:bodyPr wrap="square" lIns="0" tIns="0" rIns="0" bIns="0" rtlCol="0" anchor="t"/>
          <a:lstStyle/>
          <a:p>
            <a:pPr indent="0" marL="0">
              <a:buNone/>
            </a:pPr>
            <a:r>
              <a:rPr lang="en-US" sz="1250" b="1" dirty="0">
                <a:solidFill>
                  <a:srgbClr val="0B2545"/>
                </a:solidFill>
                <a:latin typeface="Calibri" pitchFamily="34" charset="0"/>
                <a:ea typeface="Calibri" pitchFamily="34" charset="-122"/>
                <a:cs typeface="Calibri" pitchFamily="34" charset="-120"/>
              </a:rPr>
              <a:t>Challenge  </a:t>
            </a:r>
            <a:pPr indent="0" marL="0">
              <a:buNone/>
            </a:pPr>
            <a:r>
              <a:rPr lang="en-US" sz="1250" dirty="0">
                <a:solidFill>
                  <a:srgbClr val="56698A"/>
                </a:solidFill>
                <a:latin typeface="Calibri" pitchFamily="34" charset="0"/>
                <a:ea typeface="Calibri" pitchFamily="34" charset="-122"/>
                <a:cs typeface="Calibri" pitchFamily="34" charset="-120"/>
              </a:rPr>
              <a:t>contradictions in evidence</a:t>
            </a:r>
            <a:endParaRPr lang="en-US" sz="1250" dirty="0"/>
          </a:p>
        </p:txBody>
      </p:sp>
      <p:sp>
        <p:nvSpPr>
          <p:cNvPr id="20" name="Shape 18"/>
          <p:cNvSpPr/>
          <p:nvPr/>
        </p:nvSpPr>
        <p:spPr>
          <a:xfrm>
            <a:off x="6080760" y="3758184"/>
            <a:ext cx="182880" cy="182880"/>
          </a:xfrm>
          <a:prstGeom prst="ellipse">
            <a:avLst/>
          </a:prstGeom>
          <a:solidFill>
            <a:srgbClr val="1F5FBF"/>
          </a:solidFill>
          <a:ln w="12700">
            <a:solidFill>
              <a:srgbClr val="1F5FBF"/>
            </a:solidFill>
            <a:prstDash val="solid"/>
          </a:ln>
        </p:spPr>
      </p:sp>
      <p:sp>
        <p:nvSpPr>
          <p:cNvPr id="21" name="Text 19"/>
          <p:cNvSpPr txBox="1"/>
          <p:nvPr/>
        </p:nvSpPr>
        <p:spPr>
          <a:xfrm>
            <a:off x="6400800" y="3703320"/>
            <a:ext cx="2194560" cy="457200"/>
          </a:xfrm>
          <a:prstGeom prst="rect">
            <a:avLst/>
          </a:prstGeom>
          <a:noFill/>
          <a:ln/>
        </p:spPr>
        <p:txBody>
          <a:bodyPr wrap="square" lIns="0" tIns="0" rIns="0" bIns="0" rtlCol="0" anchor="t"/>
          <a:lstStyle/>
          <a:p>
            <a:pPr indent="0" marL="0">
              <a:buNone/>
            </a:pPr>
            <a:r>
              <a:rPr lang="en-US" sz="1250" b="1" dirty="0">
                <a:solidFill>
                  <a:srgbClr val="0B2545"/>
                </a:solidFill>
                <a:latin typeface="Calibri" pitchFamily="34" charset="0"/>
                <a:ea typeface="Calibri" pitchFamily="34" charset="-122"/>
                <a:cs typeface="Calibri" pitchFamily="34" charset="-120"/>
              </a:rPr>
              <a:t>Compare  </a:t>
            </a:r>
            <a:pPr indent="0" marL="0">
              <a:buNone/>
            </a:pPr>
            <a:r>
              <a:rPr lang="en-US" sz="1250" dirty="0">
                <a:solidFill>
                  <a:srgbClr val="56698A"/>
                </a:solidFill>
                <a:latin typeface="Calibri" pitchFamily="34" charset="0"/>
                <a:ea typeface="Calibri" pitchFamily="34" charset="-122"/>
                <a:cs typeface="Calibri" pitchFamily="34" charset="-120"/>
              </a:rPr>
              <a:t>accounts, cases, patterns</a:t>
            </a:r>
            <a:endParaRPr lang="en-US" sz="1250" dirty="0"/>
          </a:p>
        </p:txBody>
      </p:sp>
      <p:sp>
        <p:nvSpPr>
          <p:cNvPr id="22" name="Shape 20"/>
          <p:cNvSpPr/>
          <p:nvPr/>
        </p:nvSpPr>
        <p:spPr>
          <a:xfrm>
            <a:off x="6080760" y="4261104"/>
            <a:ext cx="182880" cy="182880"/>
          </a:xfrm>
          <a:prstGeom prst="ellipse">
            <a:avLst/>
          </a:prstGeom>
          <a:solidFill>
            <a:srgbClr val="1F5FBF"/>
          </a:solidFill>
          <a:ln w="12700">
            <a:solidFill>
              <a:srgbClr val="1F5FBF"/>
            </a:solidFill>
            <a:prstDash val="solid"/>
          </a:ln>
        </p:spPr>
      </p:sp>
      <p:sp>
        <p:nvSpPr>
          <p:cNvPr id="23" name="Text 21"/>
          <p:cNvSpPr txBox="1"/>
          <p:nvPr/>
        </p:nvSpPr>
        <p:spPr>
          <a:xfrm>
            <a:off x="6400800" y="4206240"/>
            <a:ext cx="2194560" cy="457200"/>
          </a:xfrm>
          <a:prstGeom prst="rect">
            <a:avLst/>
          </a:prstGeom>
          <a:noFill/>
          <a:ln/>
        </p:spPr>
        <p:txBody>
          <a:bodyPr wrap="square" lIns="0" tIns="0" rIns="0" bIns="0" rtlCol="0" anchor="t"/>
          <a:lstStyle/>
          <a:p>
            <a:pPr indent="0" marL="0">
              <a:buNone/>
            </a:pPr>
            <a:r>
              <a:rPr lang="en-US" sz="1250" b="1" dirty="0">
                <a:solidFill>
                  <a:srgbClr val="0B2545"/>
                </a:solidFill>
                <a:latin typeface="Calibri" pitchFamily="34" charset="0"/>
                <a:ea typeface="Calibri" pitchFamily="34" charset="-122"/>
                <a:cs typeface="Calibri" pitchFamily="34" charset="-120"/>
              </a:rPr>
              <a:t>Simulate  </a:t>
            </a:r>
            <a:pPr indent="0" marL="0">
              <a:buNone/>
            </a:pPr>
            <a:r>
              <a:rPr lang="en-US" sz="1250" dirty="0">
                <a:solidFill>
                  <a:srgbClr val="56698A"/>
                </a:solidFill>
                <a:latin typeface="Calibri" pitchFamily="34" charset="0"/>
                <a:ea typeface="Calibri" pitchFamily="34" charset="-122"/>
                <a:cs typeface="Calibri" pitchFamily="34" charset="-120"/>
              </a:rPr>
              <a:t>freezes before you act</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Mapping the hierarchy</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Kingpin to mule to victim, illustrative mock data</a:t>
            </a:r>
            <a:endParaRPr lang="en-US" sz="1500" dirty="0"/>
          </a:p>
        </p:txBody>
      </p:sp>
      <p:sp>
        <p:nvSpPr>
          <p:cNvPr id="4" name="Shape 2"/>
          <p:cNvSpPr/>
          <p:nvPr/>
        </p:nvSpPr>
        <p:spPr>
          <a:xfrm flipH="1">
            <a:off x="1280160" y="1965960"/>
            <a:ext cx="1371600" cy="1051560"/>
          </a:xfrm>
          <a:prstGeom prst="line">
            <a:avLst/>
          </a:prstGeom>
          <a:noFill/>
          <a:ln w="19050">
            <a:solidFill>
              <a:srgbClr val="9DBFE8"/>
            </a:solidFill>
            <a:prstDash val="solid"/>
          </a:ln>
        </p:spPr>
      </p:sp>
      <p:sp>
        <p:nvSpPr>
          <p:cNvPr id="5" name="Shape 3"/>
          <p:cNvSpPr/>
          <p:nvPr/>
        </p:nvSpPr>
        <p:spPr>
          <a:xfrm>
            <a:off x="2651760" y="1965960"/>
            <a:ext cx="0" cy="1051560"/>
          </a:xfrm>
          <a:prstGeom prst="line">
            <a:avLst/>
          </a:prstGeom>
          <a:noFill/>
          <a:ln w="19050">
            <a:solidFill>
              <a:srgbClr val="9DBFE8"/>
            </a:solidFill>
            <a:prstDash val="solid"/>
          </a:ln>
        </p:spPr>
      </p:sp>
      <p:sp>
        <p:nvSpPr>
          <p:cNvPr id="6" name="Shape 4"/>
          <p:cNvSpPr/>
          <p:nvPr/>
        </p:nvSpPr>
        <p:spPr>
          <a:xfrm>
            <a:off x="2651760" y="1965960"/>
            <a:ext cx="1371600" cy="1051560"/>
          </a:xfrm>
          <a:prstGeom prst="line">
            <a:avLst/>
          </a:prstGeom>
          <a:noFill/>
          <a:ln w="19050">
            <a:solidFill>
              <a:srgbClr val="9DBFE8"/>
            </a:solidFill>
            <a:prstDash val="solid"/>
          </a:ln>
        </p:spPr>
      </p:sp>
      <p:sp>
        <p:nvSpPr>
          <p:cNvPr id="7" name="Shape 5"/>
          <p:cNvSpPr/>
          <p:nvPr/>
        </p:nvSpPr>
        <p:spPr>
          <a:xfrm flipH="1">
            <a:off x="640080" y="3017520"/>
            <a:ext cx="640080" cy="1188720"/>
          </a:xfrm>
          <a:prstGeom prst="line">
            <a:avLst/>
          </a:prstGeom>
          <a:noFill/>
          <a:ln w="19050">
            <a:solidFill>
              <a:srgbClr val="9DBFE8"/>
            </a:solidFill>
            <a:prstDash val="solid"/>
          </a:ln>
        </p:spPr>
      </p:sp>
      <p:sp>
        <p:nvSpPr>
          <p:cNvPr id="8" name="Shape 6"/>
          <p:cNvSpPr/>
          <p:nvPr/>
        </p:nvSpPr>
        <p:spPr>
          <a:xfrm>
            <a:off x="1280160" y="3017520"/>
            <a:ext cx="457200" cy="1188720"/>
          </a:xfrm>
          <a:prstGeom prst="line">
            <a:avLst/>
          </a:prstGeom>
          <a:noFill/>
          <a:ln w="19050">
            <a:solidFill>
              <a:srgbClr val="9DBFE8"/>
            </a:solidFill>
            <a:prstDash val="solid"/>
          </a:ln>
        </p:spPr>
      </p:sp>
      <p:sp>
        <p:nvSpPr>
          <p:cNvPr id="9" name="Shape 7"/>
          <p:cNvSpPr/>
          <p:nvPr/>
        </p:nvSpPr>
        <p:spPr>
          <a:xfrm flipH="1">
            <a:off x="2286000" y="3017520"/>
            <a:ext cx="365760" cy="1188720"/>
          </a:xfrm>
          <a:prstGeom prst="line">
            <a:avLst/>
          </a:prstGeom>
          <a:noFill/>
          <a:ln w="19050">
            <a:solidFill>
              <a:srgbClr val="9DBFE8"/>
            </a:solidFill>
            <a:prstDash val="solid"/>
          </a:ln>
        </p:spPr>
      </p:sp>
      <p:sp>
        <p:nvSpPr>
          <p:cNvPr id="10" name="Shape 8"/>
          <p:cNvSpPr/>
          <p:nvPr/>
        </p:nvSpPr>
        <p:spPr>
          <a:xfrm>
            <a:off x="2651760" y="3017520"/>
            <a:ext cx="365760" cy="1188720"/>
          </a:xfrm>
          <a:prstGeom prst="line">
            <a:avLst/>
          </a:prstGeom>
          <a:noFill/>
          <a:ln w="19050">
            <a:solidFill>
              <a:srgbClr val="9DBFE8"/>
            </a:solidFill>
            <a:prstDash val="solid"/>
          </a:ln>
        </p:spPr>
      </p:sp>
      <p:sp>
        <p:nvSpPr>
          <p:cNvPr id="11" name="Shape 9"/>
          <p:cNvSpPr/>
          <p:nvPr/>
        </p:nvSpPr>
        <p:spPr>
          <a:xfrm flipH="1">
            <a:off x="3657600" y="3017520"/>
            <a:ext cx="365760" cy="1188720"/>
          </a:xfrm>
          <a:prstGeom prst="line">
            <a:avLst/>
          </a:prstGeom>
          <a:noFill/>
          <a:ln w="19050">
            <a:solidFill>
              <a:srgbClr val="9DBFE8"/>
            </a:solidFill>
            <a:prstDash val="solid"/>
          </a:ln>
        </p:spPr>
      </p:sp>
      <p:sp>
        <p:nvSpPr>
          <p:cNvPr id="12" name="Shape 10"/>
          <p:cNvSpPr/>
          <p:nvPr/>
        </p:nvSpPr>
        <p:spPr>
          <a:xfrm>
            <a:off x="4023360" y="3017520"/>
            <a:ext cx="640080" cy="1188720"/>
          </a:xfrm>
          <a:prstGeom prst="line">
            <a:avLst/>
          </a:prstGeom>
          <a:noFill/>
          <a:ln w="19050">
            <a:solidFill>
              <a:srgbClr val="9DBFE8"/>
            </a:solidFill>
            <a:prstDash val="solid"/>
          </a:ln>
        </p:spPr>
      </p:sp>
      <p:sp>
        <p:nvSpPr>
          <p:cNvPr id="13" name="Shape 11"/>
          <p:cNvSpPr/>
          <p:nvPr/>
        </p:nvSpPr>
        <p:spPr>
          <a:xfrm>
            <a:off x="2194560" y="1508760"/>
            <a:ext cx="914400" cy="914400"/>
          </a:xfrm>
          <a:prstGeom prst="ellipse">
            <a:avLst/>
          </a:prstGeom>
          <a:solidFill>
            <a:srgbClr val="0B2545"/>
          </a:solidFill>
          <a:ln w="25400">
            <a:solidFill>
              <a:srgbClr val="FFFFFF"/>
            </a:solidFill>
            <a:prstDash val="solid"/>
          </a:ln>
        </p:spPr>
      </p:sp>
      <p:sp>
        <p:nvSpPr>
          <p:cNvPr id="14" name="Text 12"/>
          <p:cNvSpPr txBox="1"/>
          <p:nvPr/>
        </p:nvSpPr>
        <p:spPr>
          <a:xfrm>
            <a:off x="2194560" y="1508760"/>
            <a:ext cx="914400" cy="9144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Kingpin</a:t>
            </a:r>
            <a:endParaRPr lang="en-US" sz="1200" dirty="0"/>
          </a:p>
        </p:txBody>
      </p:sp>
      <p:sp>
        <p:nvSpPr>
          <p:cNvPr id="15" name="Shape 13"/>
          <p:cNvSpPr/>
          <p:nvPr/>
        </p:nvSpPr>
        <p:spPr>
          <a:xfrm>
            <a:off x="891540" y="2628900"/>
            <a:ext cx="777240" cy="777240"/>
          </a:xfrm>
          <a:prstGeom prst="ellipse">
            <a:avLst/>
          </a:prstGeom>
          <a:solidFill>
            <a:srgbClr val="1F5FBF"/>
          </a:solidFill>
          <a:ln w="25400">
            <a:solidFill>
              <a:srgbClr val="FFFFFF"/>
            </a:solidFill>
            <a:prstDash val="solid"/>
          </a:ln>
        </p:spPr>
      </p:sp>
      <p:sp>
        <p:nvSpPr>
          <p:cNvPr id="16" name="Text 14"/>
          <p:cNvSpPr txBox="1"/>
          <p:nvPr/>
        </p:nvSpPr>
        <p:spPr>
          <a:xfrm>
            <a:off x="891540" y="2628900"/>
            <a:ext cx="77724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Mule 1</a:t>
            </a:r>
            <a:endParaRPr lang="en-US" sz="1100" dirty="0"/>
          </a:p>
        </p:txBody>
      </p:sp>
      <p:sp>
        <p:nvSpPr>
          <p:cNvPr id="17" name="Shape 15"/>
          <p:cNvSpPr/>
          <p:nvPr/>
        </p:nvSpPr>
        <p:spPr>
          <a:xfrm>
            <a:off x="2263140" y="2628900"/>
            <a:ext cx="777240" cy="777240"/>
          </a:xfrm>
          <a:prstGeom prst="ellipse">
            <a:avLst/>
          </a:prstGeom>
          <a:solidFill>
            <a:srgbClr val="1F5FBF"/>
          </a:solidFill>
          <a:ln w="25400">
            <a:solidFill>
              <a:srgbClr val="FFFFFF"/>
            </a:solidFill>
            <a:prstDash val="solid"/>
          </a:ln>
        </p:spPr>
      </p:sp>
      <p:sp>
        <p:nvSpPr>
          <p:cNvPr id="18" name="Text 16"/>
          <p:cNvSpPr txBox="1"/>
          <p:nvPr/>
        </p:nvSpPr>
        <p:spPr>
          <a:xfrm>
            <a:off x="2263140" y="2628900"/>
            <a:ext cx="77724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Mule 2</a:t>
            </a:r>
            <a:endParaRPr lang="en-US" sz="1100" dirty="0"/>
          </a:p>
        </p:txBody>
      </p:sp>
      <p:sp>
        <p:nvSpPr>
          <p:cNvPr id="19" name="Shape 17"/>
          <p:cNvSpPr/>
          <p:nvPr/>
        </p:nvSpPr>
        <p:spPr>
          <a:xfrm>
            <a:off x="3634740" y="2628900"/>
            <a:ext cx="777240" cy="777240"/>
          </a:xfrm>
          <a:prstGeom prst="ellipse">
            <a:avLst/>
          </a:prstGeom>
          <a:solidFill>
            <a:srgbClr val="1F5FBF"/>
          </a:solidFill>
          <a:ln w="25400">
            <a:solidFill>
              <a:srgbClr val="FFFFFF"/>
            </a:solidFill>
            <a:prstDash val="solid"/>
          </a:ln>
        </p:spPr>
      </p:sp>
      <p:sp>
        <p:nvSpPr>
          <p:cNvPr id="20" name="Text 18"/>
          <p:cNvSpPr txBox="1"/>
          <p:nvPr/>
        </p:nvSpPr>
        <p:spPr>
          <a:xfrm>
            <a:off x="3634740" y="2628900"/>
            <a:ext cx="77724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Mule 3</a:t>
            </a:r>
            <a:endParaRPr lang="en-US" sz="1100" dirty="0"/>
          </a:p>
        </p:txBody>
      </p:sp>
      <p:sp>
        <p:nvSpPr>
          <p:cNvPr id="21" name="Shape 19"/>
          <p:cNvSpPr/>
          <p:nvPr/>
        </p:nvSpPr>
        <p:spPr>
          <a:xfrm>
            <a:off x="365760" y="3931920"/>
            <a:ext cx="548640" cy="548640"/>
          </a:xfrm>
          <a:prstGeom prst="ellipse">
            <a:avLst/>
          </a:prstGeom>
          <a:solidFill>
            <a:srgbClr val="D6E6F8"/>
          </a:solidFill>
          <a:ln w="25400">
            <a:solidFill>
              <a:srgbClr val="FFFFFF"/>
            </a:solidFill>
            <a:prstDash val="solid"/>
          </a:ln>
        </p:spPr>
      </p:sp>
      <p:sp>
        <p:nvSpPr>
          <p:cNvPr id="22" name="Text 20"/>
          <p:cNvSpPr txBox="1"/>
          <p:nvPr/>
        </p:nvSpPr>
        <p:spPr>
          <a:xfrm>
            <a:off x="36576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V1</a:t>
            </a:r>
            <a:endParaRPr lang="en-US" sz="1000" dirty="0"/>
          </a:p>
        </p:txBody>
      </p:sp>
      <p:sp>
        <p:nvSpPr>
          <p:cNvPr id="23" name="Shape 21"/>
          <p:cNvSpPr/>
          <p:nvPr/>
        </p:nvSpPr>
        <p:spPr>
          <a:xfrm>
            <a:off x="1463040" y="3931920"/>
            <a:ext cx="548640" cy="548640"/>
          </a:xfrm>
          <a:prstGeom prst="ellipse">
            <a:avLst/>
          </a:prstGeom>
          <a:solidFill>
            <a:srgbClr val="D6E6F8"/>
          </a:solidFill>
          <a:ln w="25400">
            <a:solidFill>
              <a:srgbClr val="FFFFFF"/>
            </a:solidFill>
            <a:prstDash val="solid"/>
          </a:ln>
        </p:spPr>
      </p:sp>
      <p:sp>
        <p:nvSpPr>
          <p:cNvPr id="24" name="Text 22"/>
          <p:cNvSpPr txBox="1"/>
          <p:nvPr/>
        </p:nvSpPr>
        <p:spPr>
          <a:xfrm>
            <a:off x="146304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V2</a:t>
            </a:r>
            <a:endParaRPr lang="en-US" sz="1000" dirty="0"/>
          </a:p>
        </p:txBody>
      </p:sp>
      <p:sp>
        <p:nvSpPr>
          <p:cNvPr id="25" name="Shape 23"/>
          <p:cNvSpPr/>
          <p:nvPr/>
        </p:nvSpPr>
        <p:spPr>
          <a:xfrm>
            <a:off x="2011680" y="3931920"/>
            <a:ext cx="548640" cy="548640"/>
          </a:xfrm>
          <a:prstGeom prst="ellipse">
            <a:avLst/>
          </a:prstGeom>
          <a:solidFill>
            <a:srgbClr val="D6E6F8"/>
          </a:solidFill>
          <a:ln w="25400">
            <a:solidFill>
              <a:srgbClr val="FFFFFF"/>
            </a:solidFill>
            <a:prstDash val="solid"/>
          </a:ln>
        </p:spPr>
      </p:sp>
      <p:sp>
        <p:nvSpPr>
          <p:cNvPr id="26" name="Text 24"/>
          <p:cNvSpPr txBox="1"/>
          <p:nvPr/>
        </p:nvSpPr>
        <p:spPr>
          <a:xfrm>
            <a:off x="201168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V3</a:t>
            </a:r>
            <a:endParaRPr lang="en-US" sz="1000" dirty="0"/>
          </a:p>
        </p:txBody>
      </p:sp>
      <p:sp>
        <p:nvSpPr>
          <p:cNvPr id="27" name="Shape 25"/>
          <p:cNvSpPr/>
          <p:nvPr/>
        </p:nvSpPr>
        <p:spPr>
          <a:xfrm>
            <a:off x="2743200" y="3931920"/>
            <a:ext cx="548640" cy="548640"/>
          </a:xfrm>
          <a:prstGeom prst="ellipse">
            <a:avLst/>
          </a:prstGeom>
          <a:solidFill>
            <a:srgbClr val="D6E6F8"/>
          </a:solidFill>
          <a:ln w="25400">
            <a:solidFill>
              <a:srgbClr val="FFFFFF"/>
            </a:solidFill>
            <a:prstDash val="solid"/>
          </a:ln>
        </p:spPr>
      </p:sp>
      <p:sp>
        <p:nvSpPr>
          <p:cNvPr id="28" name="Text 26"/>
          <p:cNvSpPr txBox="1"/>
          <p:nvPr/>
        </p:nvSpPr>
        <p:spPr>
          <a:xfrm>
            <a:off x="274320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V4</a:t>
            </a:r>
            <a:endParaRPr lang="en-US" sz="1000" dirty="0"/>
          </a:p>
        </p:txBody>
      </p:sp>
      <p:sp>
        <p:nvSpPr>
          <p:cNvPr id="29" name="Shape 27"/>
          <p:cNvSpPr/>
          <p:nvPr/>
        </p:nvSpPr>
        <p:spPr>
          <a:xfrm>
            <a:off x="3383280" y="3931920"/>
            <a:ext cx="548640" cy="548640"/>
          </a:xfrm>
          <a:prstGeom prst="ellipse">
            <a:avLst/>
          </a:prstGeom>
          <a:solidFill>
            <a:srgbClr val="D6E6F8"/>
          </a:solidFill>
          <a:ln w="25400">
            <a:solidFill>
              <a:srgbClr val="FFFFFF"/>
            </a:solidFill>
            <a:prstDash val="solid"/>
          </a:ln>
        </p:spPr>
      </p:sp>
      <p:sp>
        <p:nvSpPr>
          <p:cNvPr id="30" name="Text 28"/>
          <p:cNvSpPr txBox="1"/>
          <p:nvPr/>
        </p:nvSpPr>
        <p:spPr>
          <a:xfrm>
            <a:off x="338328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V5</a:t>
            </a:r>
            <a:endParaRPr lang="en-US" sz="1000" dirty="0"/>
          </a:p>
        </p:txBody>
      </p:sp>
      <p:sp>
        <p:nvSpPr>
          <p:cNvPr id="31" name="Shape 29"/>
          <p:cNvSpPr/>
          <p:nvPr/>
        </p:nvSpPr>
        <p:spPr>
          <a:xfrm>
            <a:off x="4389120" y="3931920"/>
            <a:ext cx="548640" cy="548640"/>
          </a:xfrm>
          <a:prstGeom prst="ellipse">
            <a:avLst/>
          </a:prstGeom>
          <a:solidFill>
            <a:srgbClr val="D6E6F8"/>
          </a:solidFill>
          <a:ln w="25400">
            <a:solidFill>
              <a:srgbClr val="FFFFFF"/>
            </a:solidFill>
            <a:prstDash val="solid"/>
          </a:ln>
        </p:spPr>
      </p:sp>
      <p:sp>
        <p:nvSpPr>
          <p:cNvPr id="32" name="Text 30"/>
          <p:cNvSpPr txBox="1"/>
          <p:nvPr/>
        </p:nvSpPr>
        <p:spPr>
          <a:xfrm>
            <a:off x="4389120" y="3931920"/>
            <a:ext cx="548640" cy="548640"/>
          </a:xfrm>
          <a:prstGeom prst="rect">
            <a:avLst/>
          </a:prstGeom>
          <a:noFill/>
          <a:ln/>
        </p:spPr>
        <p:txBody>
          <a:bodyPr wrap="square" lIns="0" tIns="0" rIns="0" bIns="0" rtlCol="0" anchor="ctr"/>
          <a:lstStyle/>
          <a:p>
            <a:pPr algn="ctr" indent="0" marL="0">
              <a:buNone/>
            </a:pPr>
            <a:r>
              <a:rPr lang="en-US" sz="1000" b="1" dirty="0">
                <a:solidFill>
                  <a:srgbClr val="0B2545"/>
                </a:solidFill>
                <a:latin typeface="Calibri" pitchFamily="34" charset="0"/>
                <a:ea typeface="Calibri" pitchFamily="34" charset="-122"/>
                <a:cs typeface="Calibri" pitchFamily="34" charset="-120"/>
              </a:rPr>
              <a:t>V6</a:t>
            </a:r>
            <a:endParaRPr lang="en-US" sz="1000" dirty="0"/>
          </a:p>
        </p:txBody>
      </p:sp>
      <p:sp>
        <p:nvSpPr>
          <p:cNvPr id="33" name="Shape 31"/>
          <p:cNvSpPr/>
          <p:nvPr/>
        </p:nvSpPr>
        <p:spPr>
          <a:xfrm>
            <a:off x="5486400" y="1463040"/>
            <a:ext cx="3200400" cy="3108960"/>
          </a:xfrm>
          <a:prstGeom prst="roundRect">
            <a:avLst>
              <a:gd name="adj" fmla="val 3529"/>
            </a:avLst>
          </a:prstGeom>
          <a:solidFill>
            <a:srgbClr val="0B2545"/>
          </a:solidFill>
          <a:ln w="12700">
            <a:solidFill>
              <a:srgbClr val="0B2545"/>
            </a:solidFill>
            <a:prstDash val="solid"/>
          </a:ln>
        </p:spPr>
      </p:sp>
      <p:sp>
        <p:nvSpPr>
          <p:cNvPr id="34" name="Text 32"/>
          <p:cNvSpPr txBox="1"/>
          <p:nvPr/>
        </p:nvSpPr>
        <p:spPr>
          <a:xfrm>
            <a:off x="5760720" y="1691640"/>
            <a:ext cx="274320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SIM-swap chain</a:t>
            </a:r>
            <a:endParaRPr lang="en-US" sz="2000" dirty="0"/>
          </a:p>
        </p:txBody>
      </p:sp>
      <p:sp>
        <p:nvSpPr>
          <p:cNvPr id="35" name="Text 33"/>
          <p:cNvSpPr txBox="1"/>
          <p:nvPr/>
        </p:nvSpPr>
        <p:spPr>
          <a:xfrm>
            <a:off x="5760720" y="2240280"/>
            <a:ext cx="274320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E4EEFB"/>
                </a:solidFill>
                <a:latin typeface="Calibri" pitchFamily="34" charset="0"/>
                <a:ea typeface="Calibri" pitchFamily="34" charset="-122"/>
                <a:cs typeface="Calibri" pitchFamily="34" charset="-120"/>
              </a:rPr>
              <a:t>Victim SIM ported to a new SIM</a:t>
            </a:r>
            <a:endParaRPr lang="en-US" sz="1400" dirty="0"/>
          </a:p>
          <a:p>
            <a:pPr marL="342900" indent="-342900">
              <a:spcAft>
                <a:spcPts val="800"/>
              </a:spcAft>
              <a:buSzPct val="100000"/>
              <a:buChar char="•"/>
            </a:pPr>
            <a:r>
              <a:rPr lang="en-US" sz="1400" dirty="0">
                <a:solidFill>
                  <a:srgbClr val="E4EEFB"/>
                </a:solidFill>
                <a:latin typeface="Calibri" pitchFamily="34" charset="0"/>
                <a:ea typeface="Calibri" pitchFamily="34" charset="-122"/>
                <a:cs typeface="Calibri" pitchFamily="34" charset="-120"/>
              </a:rPr>
              <a:t>OTPs land on the accused device (IMEI)</a:t>
            </a:r>
            <a:endParaRPr lang="en-US" sz="1400" dirty="0"/>
          </a:p>
          <a:p>
            <a:pPr marL="342900" indent="-342900">
              <a:spcAft>
                <a:spcPts val="800"/>
              </a:spcAft>
              <a:buSzPct val="100000"/>
              <a:buChar char="•"/>
            </a:pPr>
            <a:r>
              <a:rPr lang="en-US" sz="1400" dirty="0">
                <a:solidFill>
                  <a:srgbClr val="E4EEFB"/>
                </a:solidFill>
                <a:latin typeface="Calibri" pitchFamily="34" charset="0"/>
                <a:ea typeface="Calibri" pitchFamily="34" charset="-122"/>
                <a:cs typeface="Calibri" pitchFamily="34" charset="-120"/>
              </a:rPr>
              <a:t>UPI funds drained to mule accounts</a:t>
            </a:r>
            <a:endParaRPr lang="en-US" sz="1400" dirty="0"/>
          </a:p>
          <a:p>
            <a:pPr marL="342900" indent="-342900">
              <a:spcAft>
                <a:spcPts val="800"/>
              </a:spcAft>
              <a:buSzPct val="100000"/>
              <a:buChar char="•"/>
            </a:pPr>
            <a:r>
              <a:rPr lang="en-US" sz="1400" dirty="0">
                <a:solidFill>
                  <a:srgbClr val="E4EEFB"/>
                </a:solidFill>
                <a:latin typeface="Calibri" pitchFamily="34" charset="0"/>
                <a:ea typeface="Calibri" pitchFamily="34" charset="-122"/>
                <a:cs typeface="Calibri" pitchFamily="34" charset="-120"/>
              </a:rPr>
              <a:t>Layered upward to the kingpin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What makes Fraud Lens different</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Three capabilities that move from analysis to action</a:t>
            </a:r>
            <a:endParaRPr lang="en-US" sz="1500" dirty="0"/>
          </a:p>
        </p:txBody>
      </p:sp>
      <p:sp>
        <p:nvSpPr>
          <p:cNvPr id="4" name="Shape 2"/>
          <p:cNvSpPr/>
          <p:nvPr/>
        </p:nvSpPr>
        <p:spPr>
          <a:xfrm>
            <a:off x="457200" y="1508760"/>
            <a:ext cx="2560320" cy="2926080"/>
          </a:xfrm>
          <a:prstGeom prst="roundRect">
            <a:avLst>
              <a:gd name="adj" fmla="val 4286"/>
            </a:avLst>
          </a:prstGeom>
          <a:solidFill>
            <a:srgbClr val="EAF2FC"/>
          </a:solidFill>
          <a:ln w="12700">
            <a:solidFill>
              <a:srgbClr val="EAF2FC"/>
            </a:solidFill>
            <a:prstDash val="solid"/>
          </a:ln>
        </p:spPr>
      </p:sp>
      <p:sp>
        <p:nvSpPr>
          <p:cNvPr id="5" name="Shape 3"/>
          <p:cNvSpPr/>
          <p:nvPr/>
        </p:nvSpPr>
        <p:spPr>
          <a:xfrm>
            <a:off x="685800" y="1737360"/>
            <a:ext cx="420624" cy="420624"/>
          </a:xfrm>
          <a:prstGeom prst="ellipse">
            <a:avLst/>
          </a:prstGeom>
          <a:solidFill>
            <a:srgbClr val="1F5FBF"/>
          </a:solidFill>
          <a:ln w="12700">
            <a:solidFill>
              <a:srgbClr val="1F5FBF"/>
            </a:solidFill>
            <a:prstDash val="solid"/>
          </a:ln>
        </p:spPr>
      </p:sp>
      <p:sp>
        <p:nvSpPr>
          <p:cNvPr id="6" name="Text 4"/>
          <p:cNvSpPr txBox="1"/>
          <p:nvPr/>
        </p:nvSpPr>
        <p:spPr>
          <a:xfrm>
            <a:off x="685800"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685800" y="2377440"/>
            <a:ext cx="2148840" cy="731520"/>
          </a:xfrm>
          <a:prstGeom prst="rect">
            <a:avLst/>
          </a:prstGeom>
          <a:noFill/>
          <a:ln/>
        </p:spPr>
        <p:txBody>
          <a:bodyPr wrap="square" lIns="0" tIns="0" rIns="0" bIns="0" rtlCol="0" anchor="t"/>
          <a:lstStyle/>
          <a:p>
            <a:pPr indent="0" marL="0">
              <a:buNone/>
            </a:pPr>
            <a:r>
              <a:rPr lang="en-US" sz="1900" b="1" dirty="0">
                <a:solidFill>
                  <a:srgbClr val="0B2545"/>
                </a:solidFill>
                <a:latin typeface="Cambria" pitchFamily="34" charset="0"/>
                <a:ea typeface="Cambria" pitchFamily="34" charset="-122"/>
                <a:cs typeface="Cambria" pitchFamily="34" charset="-120"/>
              </a:rPr>
              <a:t>SIM-swap chain detector</a:t>
            </a:r>
            <a:endParaRPr lang="en-US" sz="1900" dirty="0"/>
          </a:p>
        </p:txBody>
      </p:sp>
      <p:sp>
        <p:nvSpPr>
          <p:cNvPr id="8" name="Text 6"/>
          <p:cNvSpPr txBox="1"/>
          <p:nvPr/>
        </p:nvSpPr>
        <p:spPr>
          <a:xfrm>
            <a:off x="685800" y="3154680"/>
            <a:ext cx="2148840" cy="118872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Links swap events, IMEI changes and OTP calls into one timeline lane per victim.</a:t>
            </a:r>
            <a:endParaRPr lang="en-US" sz="1300" dirty="0"/>
          </a:p>
        </p:txBody>
      </p:sp>
      <p:sp>
        <p:nvSpPr>
          <p:cNvPr id="9" name="Shape 7"/>
          <p:cNvSpPr/>
          <p:nvPr/>
        </p:nvSpPr>
        <p:spPr>
          <a:xfrm>
            <a:off x="3291840" y="1508760"/>
            <a:ext cx="2560320" cy="2926080"/>
          </a:xfrm>
          <a:prstGeom prst="roundRect">
            <a:avLst>
              <a:gd name="adj" fmla="val 4286"/>
            </a:avLst>
          </a:prstGeom>
          <a:solidFill>
            <a:srgbClr val="EAF2FC"/>
          </a:solidFill>
          <a:ln w="12700">
            <a:solidFill>
              <a:srgbClr val="EAF2FC"/>
            </a:solidFill>
            <a:prstDash val="solid"/>
          </a:ln>
        </p:spPr>
      </p:sp>
      <p:sp>
        <p:nvSpPr>
          <p:cNvPr id="10" name="Shape 8"/>
          <p:cNvSpPr/>
          <p:nvPr/>
        </p:nvSpPr>
        <p:spPr>
          <a:xfrm>
            <a:off x="3520440" y="1737360"/>
            <a:ext cx="420624" cy="420624"/>
          </a:xfrm>
          <a:prstGeom prst="ellipse">
            <a:avLst/>
          </a:prstGeom>
          <a:solidFill>
            <a:srgbClr val="1F5FBF"/>
          </a:solidFill>
          <a:ln w="12700">
            <a:solidFill>
              <a:srgbClr val="1F5FBF"/>
            </a:solidFill>
            <a:prstDash val="solid"/>
          </a:ln>
        </p:spPr>
      </p:sp>
      <p:sp>
        <p:nvSpPr>
          <p:cNvPr id="11" name="Text 9"/>
          <p:cNvSpPr txBox="1"/>
          <p:nvPr/>
        </p:nvSpPr>
        <p:spPr>
          <a:xfrm>
            <a:off x="3520440"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520440" y="2377440"/>
            <a:ext cx="2148840" cy="731520"/>
          </a:xfrm>
          <a:prstGeom prst="rect">
            <a:avLst/>
          </a:prstGeom>
          <a:noFill/>
          <a:ln/>
        </p:spPr>
        <p:txBody>
          <a:bodyPr wrap="square" lIns="0" tIns="0" rIns="0" bIns="0" rtlCol="0" anchor="t"/>
          <a:lstStyle/>
          <a:p>
            <a:pPr indent="0" marL="0">
              <a:buNone/>
            </a:pPr>
            <a:r>
              <a:rPr lang="en-US" sz="1900" b="1" dirty="0">
                <a:solidFill>
                  <a:srgbClr val="0B2545"/>
                </a:solidFill>
                <a:latin typeface="Cambria" pitchFamily="34" charset="0"/>
                <a:ea typeface="Cambria" pitchFamily="34" charset="-122"/>
                <a:cs typeface="Cambria" pitchFamily="34" charset="-120"/>
              </a:rPr>
              <a:t>Action engine</a:t>
            </a:r>
            <a:endParaRPr lang="en-US" sz="1900" dirty="0"/>
          </a:p>
        </p:txBody>
      </p:sp>
      <p:sp>
        <p:nvSpPr>
          <p:cNvPr id="13" name="Text 11"/>
          <p:cNvSpPr txBox="1"/>
          <p:nvPr/>
        </p:nvSpPr>
        <p:spPr>
          <a:xfrm>
            <a:off x="3520440" y="3154680"/>
            <a:ext cx="2148840" cy="118872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Min-cut solver picks the smallest freeze/block set. Before/after simulation shows the disruption.</a:t>
            </a:r>
            <a:endParaRPr lang="en-US" sz="1300" dirty="0"/>
          </a:p>
        </p:txBody>
      </p:sp>
      <p:sp>
        <p:nvSpPr>
          <p:cNvPr id="14" name="Shape 12"/>
          <p:cNvSpPr/>
          <p:nvPr/>
        </p:nvSpPr>
        <p:spPr>
          <a:xfrm>
            <a:off x="6126480" y="1508760"/>
            <a:ext cx="2560320" cy="2926080"/>
          </a:xfrm>
          <a:prstGeom prst="roundRect">
            <a:avLst>
              <a:gd name="adj" fmla="val 4286"/>
            </a:avLst>
          </a:prstGeom>
          <a:solidFill>
            <a:srgbClr val="EAF2FC"/>
          </a:solidFill>
          <a:ln w="12700">
            <a:solidFill>
              <a:srgbClr val="EAF2FC"/>
            </a:solidFill>
            <a:prstDash val="solid"/>
          </a:ln>
        </p:spPr>
      </p:sp>
      <p:sp>
        <p:nvSpPr>
          <p:cNvPr id="15" name="Shape 13"/>
          <p:cNvSpPr/>
          <p:nvPr/>
        </p:nvSpPr>
        <p:spPr>
          <a:xfrm>
            <a:off x="6355080" y="1737360"/>
            <a:ext cx="420624" cy="420624"/>
          </a:xfrm>
          <a:prstGeom prst="ellipse">
            <a:avLst/>
          </a:prstGeom>
          <a:solidFill>
            <a:srgbClr val="1F5FBF"/>
          </a:solidFill>
          <a:ln w="12700">
            <a:solidFill>
              <a:srgbClr val="1F5FBF"/>
            </a:solidFill>
            <a:prstDash val="solid"/>
          </a:ln>
        </p:spPr>
      </p:sp>
      <p:sp>
        <p:nvSpPr>
          <p:cNvPr id="16" name="Text 14"/>
          <p:cNvSpPr txBox="1"/>
          <p:nvPr/>
        </p:nvSpPr>
        <p:spPr>
          <a:xfrm>
            <a:off x="6355080" y="17373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355080" y="2377440"/>
            <a:ext cx="2148840" cy="731520"/>
          </a:xfrm>
          <a:prstGeom prst="rect">
            <a:avLst/>
          </a:prstGeom>
          <a:noFill/>
          <a:ln/>
        </p:spPr>
        <p:txBody>
          <a:bodyPr wrap="square" lIns="0" tIns="0" rIns="0" bIns="0" rtlCol="0" anchor="t"/>
          <a:lstStyle/>
          <a:p>
            <a:pPr indent="0" marL="0">
              <a:buNone/>
            </a:pPr>
            <a:r>
              <a:rPr lang="en-US" sz="1900" b="1" dirty="0">
                <a:solidFill>
                  <a:srgbClr val="0B2545"/>
                </a:solidFill>
                <a:latin typeface="Cambria" pitchFamily="34" charset="0"/>
                <a:ea typeface="Cambria" pitchFamily="34" charset="-122"/>
                <a:cs typeface="Cambria" pitchFamily="34" charset="-120"/>
              </a:rPr>
              <a:t>Legal and compliance layer</a:t>
            </a:r>
            <a:endParaRPr lang="en-US" sz="1900" dirty="0"/>
          </a:p>
        </p:txBody>
      </p:sp>
      <p:sp>
        <p:nvSpPr>
          <p:cNvPr id="18" name="Text 16"/>
          <p:cNvSpPr txBox="1"/>
          <p:nvPr/>
        </p:nvSpPr>
        <p:spPr>
          <a:xfrm>
            <a:off x="6355080" y="3154680"/>
            <a:ext cx="2148840" cy="1188720"/>
          </a:xfrm>
          <a:prstGeom prst="rect">
            <a:avLst/>
          </a:prstGeom>
          <a:noFill/>
          <a:ln/>
        </p:spPr>
        <p:txBody>
          <a:bodyPr wrap="square" lIns="0" tIns="0" rIns="0" bIns="0" rtlCol="0" anchor="t"/>
          <a:lstStyle/>
          <a:p>
            <a:pPr indent="0" marL="0">
              <a:buNone/>
            </a:pPr>
            <a:r>
              <a:rPr lang="en-US" sz="1300" dirty="0">
                <a:solidFill>
                  <a:srgbClr val="12243F"/>
                </a:solidFill>
                <a:latin typeface="Calibri" pitchFamily="34" charset="0"/>
                <a:ea typeface="Calibri" pitchFamily="34" charset="-122"/>
                <a:cs typeface="Calibri" pitchFamily="34" charset="-120"/>
              </a:rPr>
              <a:t>Maps findings to IT Act 66C/66D and BNS, attaches evidence IDs, and adds a Sec 63 BSA checklist.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94360"/>
          </a:xfrm>
          <a:prstGeom prst="rect">
            <a:avLst/>
          </a:prstGeom>
          <a:noFill/>
          <a:ln/>
        </p:spPr>
        <p:txBody>
          <a:bodyPr wrap="square" lIns="0" tIns="0" rIns="0" bIns="0" rtlCol="0" anchor="t"/>
          <a:lstStyle/>
          <a:p>
            <a:pPr indent="0" marL="0">
              <a:buNone/>
            </a:pPr>
            <a:r>
              <a:rPr lang="en-US" sz="3200" b="1" dirty="0">
                <a:solidFill>
                  <a:srgbClr val="0B2545"/>
                </a:solidFill>
                <a:latin typeface="Cambria" pitchFamily="34" charset="0"/>
                <a:ea typeface="Cambria" pitchFamily="34" charset="-122"/>
                <a:cs typeface="Cambria" pitchFamily="34" charset="-120"/>
              </a:rPr>
              <a:t>FIR-ready case brief</a:t>
            </a:r>
            <a:endParaRPr lang="en-US" sz="3200" dirty="0"/>
          </a:p>
        </p:txBody>
      </p:sp>
      <p:sp>
        <p:nvSpPr>
          <p:cNvPr id="3" name="Text 1"/>
          <p:cNvSpPr txBox="1"/>
          <p:nvPr/>
        </p:nvSpPr>
        <p:spPr>
          <a:xfrm>
            <a:off x="457200" y="932688"/>
            <a:ext cx="8229600" cy="320040"/>
          </a:xfrm>
          <a:prstGeom prst="rect">
            <a:avLst/>
          </a:prstGeom>
          <a:noFill/>
          <a:ln/>
        </p:spPr>
        <p:txBody>
          <a:bodyPr wrap="square" lIns="0" tIns="0" rIns="0" bIns="0" rtlCol="0" anchor="t"/>
          <a:lstStyle/>
          <a:p>
            <a:pPr indent="0" marL="0">
              <a:buNone/>
            </a:pPr>
            <a:r>
              <a:rPr lang="en-US" sz="1500" dirty="0">
                <a:solidFill>
                  <a:srgbClr val="56698A"/>
                </a:solidFill>
                <a:latin typeface="Calibri" pitchFamily="34" charset="0"/>
                <a:ea typeface="Calibri" pitchFamily="34" charset="-122"/>
                <a:cs typeface="Calibri" pitchFamily="34" charset="-120"/>
              </a:rPr>
              <a:t>Findings become actions the same day</a:t>
            </a:r>
            <a:endParaRPr lang="en-US" sz="1500" dirty="0"/>
          </a:p>
        </p:txBody>
      </p:sp>
      <p:sp>
        <p:nvSpPr>
          <p:cNvPr id="4" name="Shape 2"/>
          <p:cNvSpPr/>
          <p:nvPr/>
        </p:nvSpPr>
        <p:spPr>
          <a:xfrm>
            <a:off x="457200" y="1463040"/>
            <a:ext cx="3840480" cy="2880360"/>
          </a:xfrm>
          <a:prstGeom prst="roundRect">
            <a:avLst>
              <a:gd name="adj" fmla="val 3810"/>
            </a:avLst>
          </a:prstGeom>
          <a:solidFill>
            <a:srgbClr val="0B2545"/>
          </a:solidFill>
          <a:ln w="12700">
            <a:solidFill>
              <a:srgbClr val="0B2545"/>
            </a:solidFill>
            <a:prstDash val="solid"/>
          </a:ln>
        </p:spPr>
      </p:sp>
      <p:sp>
        <p:nvSpPr>
          <p:cNvPr id="5" name="Text 3"/>
          <p:cNvSpPr txBox="1"/>
          <p:nvPr/>
        </p:nvSpPr>
        <p:spPr>
          <a:xfrm>
            <a:off x="731520" y="1645920"/>
            <a:ext cx="3291840" cy="365760"/>
          </a:xfrm>
          <a:prstGeom prst="rect">
            <a:avLst/>
          </a:prstGeom>
          <a:noFill/>
          <a:ln/>
        </p:spPr>
        <p:txBody>
          <a:bodyPr wrap="square" lIns="0" tIns="0" rIns="0" bIns="0" rtlCol="0" anchor="t"/>
          <a:lstStyle/>
          <a:p>
            <a:pPr indent="0" marL="0">
              <a:buNone/>
            </a:pPr>
            <a:r>
              <a:rPr lang="en-US" sz="2000" b="1" dirty="0">
                <a:solidFill>
                  <a:srgbClr val="FFFFFF"/>
                </a:solidFill>
                <a:latin typeface="Cambria" pitchFamily="34" charset="0"/>
                <a:ea typeface="Cambria" pitchFamily="34" charset="-122"/>
                <a:cs typeface="Cambria" pitchFamily="34" charset="-120"/>
              </a:rPr>
              <a:t>Case brief</a:t>
            </a:r>
            <a:endParaRPr lang="en-US" sz="2000" dirty="0"/>
          </a:p>
        </p:txBody>
      </p:sp>
      <p:sp>
        <p:nvSpPr>
          <p:cNvPr id="6" name="Text 4"/>
          <p:cNvSpPr txBox="1"/>
          <p:nvPr/>
        </p:nvSpPr>
        <p:spPr>
          <a:xfrm>
            <a:off x="731520" y="2148840"/>
            <a:ext cx="3383280" cy="201168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rgbClr val="E4EEFB"/>
                </a:solidFill>
                <a:latin typeface="Calibri" pitchFamily="34" charset="0"/>
                <a:ea typeface="Calibri" pitchFamily="34" charset="-122"/>
                <a:cs typeface="Calibri" pitchFamily="34" charset="-120"/>
              </a:rPr>
              <a:t>Timeline and SIM-swap chain summary</a:t>
            </a:r>
            <a:endParaRPr lang="en-US" sz="1400" dirty="0"/>
          </a:p>
          <a:p>
            <a:pPr marL="342900" indent="-342900">
              <a:spcAft>
                <a:spcPts val="700"/>
              </a:spcAft>
              <a:buSzPct val="100000"/>
              <a:buChar char="•"/>
            </a:pPr>
            <a:r>
              <a:rPr lang="en-US" sz="1400" dirty="0">
                <a:solidFill>
                  <a:srgbClr val="E4EEFB"/>
                </a:solidFill>
                <a:latin typeface="Calibri" pitchFamily="34" charset="0"/>
                <a:ea typeface="Calibri" pitchFamily="34" charset="-122"/>
                <a:cs typeface="Calibri" pitchFamily="34" charset="-120"/>
              </a:rPr>
              <a:t>Evidence with IDs</a:t>
            </a:r>
            <a:endParaRPr lang="en-US" sz="1400" dirty="0"/>
          </a:p>
          <a:p>
            <a:pPr marL="342900" indent="-342900">
              <a:spcAft>
                <a:spcPts val="700"/>
              </a:spcAft>
              <a:buSzPct val="100000"/>
              <a:buChar char="•"/>
            </a:pPr>
            <a:r>
              <a:rPr lang="en-US" sz="1400" dirty="0">
                <a:solidFill>
                  <a:srgbClr val="E4EEFB"/>
                </a:solidFill>
                <a:latin typeface="Calibri" pitchFamily="34" charset="0"/>
                <a:ea typeface="Calibri" pitchFamily="34" charset="-122"/>
                <a:cs typeface="Calibri" pitchFamily="34" charset="-120"/>
              </a:rPr>
              <a:t>Hypotheses and contradictions</a:t>
            </a:r>
            <a:endParaRPr lang="en-US" sz="1400" dirty="0"/>
          </a:p>
          <a:p>
            <a:pPr marL="342900" indent="-342900">
              <a:spcAft>
                <a:spcPts val="700"/>
              </a:spcAft>
              <a:buSzPct val="100000"/>
              <a:buChar char="•"/>
            </a:pPr>
            <a:r>
              <a:rPr lang="en-US" sz="1400" dirty="0">
                <a:solidFill>
                  <a:srgbClr val="E4EEFB"/>
                </a:solidFill>
                <a:latin typeface="Calibri" pitchFamily="34" charset="0"/>
                <a:ea typeface="Calibri" pitchFamily="34" charset="-122"/>
                <a:cs typeface="Calibri" pitchFamily="34" charset="-120"/>
              </a:rPr>
              <a:t>Legal sections (IT Act 66C/66D, BNS)</a:t>
            </a:r>
            <a:endParaRPr lang="en-US" sz="1400" dirty="0"/>
          </a:p>
          <a:p>
            <a:pPr marL="342900" indent="-342900">
              <a:spcAft>
                <a:spcPts val="700"/>
              </a:spcAft>
              <a:buSzPct val="100000"/>
              <a:buChar char="•"/>
            </a:pPr>
            <a:r>
              <a:rPr lang="en-US" sz="1400" dirty="0">
                <a:solidFill>
                  <a:srgbClr val="E4EEFB"/>
                </a:solidFill>
                <a:latin typeface="Calibri" pitchFamily="34" charset="0"/>
                <a:ea typeface="Calibri" pitchFamily="34" charset="-122"/>
                <a:cs typeface="Calibri" pitchFamily="34" charset="-120"/>
              </a:rPr>
              <a:t>Sec 63 BSA certificate checklist</a:t>
            </a:r>
            <a:endParaRPr lang="en-US" sz="1400" dirty="0"/>
          </a:p>
        </p:txBody>
      </p:sp>
      <p:sp>
        <p:nvSpPr>
          <p:cNvPr id="7" name="Shape 5"/>
          <p:cNvSpPr/>
          <p:nvPr/>
        </p:nvSpPr>
        <p:spPr>
          <a:xfrm>
            <a:off x="4572000" y="1463040"/>
            <a:ext cx="1965960" cy="1371600"/>
          </a:xfrm>
          <a:prstGeom prst="roundRect">
            <a:avLst>
              <a:gd name="adj" fmla="val 8000"/>
            </a:avLst>
          </a:prstGeom>
          <a:solidFill>
            <a:srgbClr val="1F5FBF"/>
          </a:solidFill>
          <a:ln w="12700">
            <a:solidFill>
              <a:srgbClr val="1F5FBF"/>
            </a:solidFill>
            <a:prstDash val="solid"/>
          </a:ln>
        </p:spPr>
      </p:sp>
      <p:sp>
        <p:nvSpPr>
          <p:cNvPr id="8" name="Text 6"/>
          <p:cNvSpPr txBox="1"/>
          <p:nvPr/>
        </p:nvSpPr>
        <p:spPr>
          <a:xfrm>
            <a:off x="4754880" y="1737360"/>
            <a:ext cx="164592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Freeze now</a:t>
            </a:r>
            <a:endParaRPr lang="en-US" sz="1500" dirty="0"/>
          </a:p>
        </p:txBody>
      </p:sp>
      <p:sp>
        <p:nvSpPr>
          <p:cNvPr id="9" name="Text 7"/>
          <p:cNvSpPr txBox="1"/>
          <p:nvPr/>
        </p:nvSpPr>
        <p:spPr>
          <a:xfrm>
            <a:off x="4754880" y="2240280"/>
            <a:ext cx="1645920" cy="365760"/>
          </a:xfrm>
          <a:prstGeom prst="rect">
            <a:avLst/>
          </a:prstGeom>
          <a:noFill/>
          <a:ln/>
        </p:spPr>
        <p:txBody>
          <a:bodyPr wrap="square" lIns="0" tIns="0" rIns="0" bIns="0" rtlCol="0" anchor="t"/>
          <a:lstStyle/>
          <a:p>
            <a:pPr indent="0" marL="0">
              <a:buNone/>
            </a:pPr>
            <a:r>
              <a:rPr lang="en-US" sz="1200" dirty="0">
                <a:solidFill>
                  <a:srgbClr val="E4EEFB"/>
                </a:solidFill>
                <a:latin typeface="Calibri" pitchFamily="34" charset="0"/>
                <a:ea typeface="Calibri" pitchFamily="34" charset="-122"/>
                <a:cs typeface="Calibri" pitchFamily="34" charset="-120"/>
              </a:rPr>
              <a:t>Min-cut account set</a:t>
            </a:r>
            <a:endParaRPr lang="en-US" sz="1200" dirty="0"/>
          </a:p>
        </p:txBody>
      </p:sp>
      <p:sp>
        <p:nvSpPr>
          <p:cNvPr id="10" name="Shape 8"/>
          <p:cNvSpPr/>
          <p:nvPr/>
        </p:nvSpPr>
        <p:spPr>
          <a:xfrm>
            <a:off x="6720840" y="1463040"/>
            <a:ext cx="1965960" cy="1371600"/>
          </a:xfrm>
          <a:prstGeom prst="roundRect">
            <a:avLst>
              <a:gd name="adj" fmla="val 8000"/>
            </a:avLst>
          </a:prstGeom>
          <a:solidFill>
            <a:srgbClr val="EAF2FC"/>
          </a:solidFill>
          <a:ln w="12700">
            <a:solidFill>
              <a:srgbClr val="EAF2FC"/>
            </a:solidFill>
            <a:prstDash val="solid"/>
          </a:ln>
        </p:spPr>
      </p:sp>
      <p:sp>
        <p:nvSpPr>
          <p:cNvPr id="11" name="Text 9"/>
          <p:cNvSpPr txBox="1"/>
          <p:nvPr/>
        </p:nvSpPr>
        <p:spPr>
          <a:xfrm>
            <a:off x="6903720" y="1737360"/>
            <a:ext cx="164592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Telecom requests</a:t>
            </a:r>
            <a:endParaRPr lang="en-US" sz="1500" dirty="0"/>
          </a:p>
        </p:txBody>
      </p:sp>
      <p:sp>
        <p:nvSpPr>
          <p:cNvPr id="12" name="Text 10"/>
          <p:cNvSpPr txBox="1"/>
          <p:nvPr/>
        </p:nvSpPr>
        <p:spPr>
          <a:xfrm>
            <a:off x="6903720" y="2240280"/>
            <a:ext cx="1645920" cy="365760"/>
          </a:xfrm>
          <a:prstGeom prst="rect">
            <a:avLst/>
          </a:prstGeom>
          <a:noFill/>
          <a:ln/>
        </p:spPr>
        <p:txBody>
          <a:bodyPr wrap="square" lIns="0" tIns="0" rIns="0" bIns="0" rtlCol="0" anchor="t"/>
          <a:lstStyle/>
          <a:p>
            <a:pPr indent="0" marL="0">
              <a:buNone/>
            </a:pPr>
            <a:r>
              <a:rPr lang="en-US" sz="1200" dirty="0">
                <a:solidFill>
                  <a:srgbClr val="56698A"/>
                </a:solidFill>
                <a:latin typeface="Calibri" pitchFamily="34" charset="0"/>
                <a:ea typeface="Calibri" pitchFamily="34" charset="-122"/>
                <a:cs typeface="Calibri" pitchFamily="34" charset="-120"/>
              </a:rPr>
              <a:t>SIM and IMEI records</a:t>
            </a:r>
            <a:endParaRPr lang="en-US" sz="1200" dirty="0"/>
          </a:p>
        </p:txBody>
      </p:sp>
      <p:sp>
        <p:nvSpPr>
          <p:cNvPr id="13" name="Shape 11"/>
          <p:cNvSpPr/>
          <p:nvPr/>
        </p:nvSpPr>
        <p:spPr>
          <a:xfrm>
            <a:off x="4572000" y="2971800"/>
            <a:ext cx="1965960" cy="1371600"/>
          </a:xfrm>
          <a:prstGeom prst="roundRect">
            <a:avLst>
              <a:gd name="adj" fmla="val 8000"/>
            </a:avLst>
          </a:prstGeom>
          <a:solidFill>
            <a:srgbClr val="EAF2FC"/>
          </a:solidFill>
          <a:ln w="12700">
            <a:solidFill>
              <a:srgbClr val="EAF2FC"/>
            </a:solidFill>
            <a:prstDash val="solid"/>
          </a:ln>
        </p:spPr>
      </p:sp>
      <p:sp>
        <p:nvSpPr>
          <p:cNvPr id="14" name="Text 12"/>
          <p:cNvSpPr txBox="1"/>
          <p:nvPr/>
        </p:nvSpPr>
        <p:spPr>
          <a:xfrm>
            <a:off x="4754880" y="3246120"/>
            <a:ext cx="164592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Bank requests</a:t>
            </a:r>
            <a:endParaRPr lang="en-US" sz="1500" dirty="0"/>
          </a:p>
        </p:txBody>
      </p:sp>
      <p:sp>
        <p:nvSpPr>
          <p:cNvPr id="15" name="Text 13"/>
          <p:cNvSpPr txBox="1"/>
          <p:nvPr/>
        </p:nvSpPr>
        <p:spPr>
          <a:xfrm>
            <a:off x="4754880" y="3749040"/>
            <a:ext cx="1645920" cy="365760"/>
          </a:xfrm>
          <a:prstGeom prst="rect">
            <a:avLst/>
          </a:prstGeom>
          <a:noFill/>
          <a:ln/>
        </p:spPr>
        <p:txBody>
          <a:bodyPr wrap="square" lIns="0" tIns="0" rIns="0" bIns="0" rtlCol="0" anchor="t"/>
          <a:lstStyle/>
          <a:p>
            <a:pPr indent="0" marL="0">
              <a:buNone/>
            </a:pPr>
            <a:r>
              <a:rPr lang="en-US" sz="1200" dirty="0">
                <a:solidFill>
                  <a:srgbClr val="56698A"/>
                </a:solidFill>
                <a:latin typeface="Calibri" pitchFamily="34" charset="0"/>
                <a:ea typeface="Calibri" pitchFamily="34" charset="-122"/>
                <a:cs typeface="Calibri" pitchFamily="34" charset="-120"/>
              </a:rPr>
              <a:t>Statements and KYC</a:t>
            </a:r>
            <a:endParaRPr lang="en-US" sz="1200" dirty="0"/>
          </a:p>
        </p:txBody>
      </p:sp>
      <p:sp>
        <p:nvSpPr>
          <p:cNvPr id="16" name="Shape 14"/>
          <p:cNvSpPr/>
          <p:nvPr/>
        </p:nvSpPr>
        <p:spPr>
          <a:xfrm>
            <a:off x="6720840" y="2971800"/>
            <a:ext cx="1965960" cy="1371600"/>
          </a:xfrm>
          <a:prstGeom prst="roundRect">
            <a:avLst>
              <a:gd name="adj" fmla="val 8000"/>
            </a:avLst>
          </a:prstGeom>
          <a:solidFill>
            <a:srgbClr val="EAF2FC"/>
          </a:solidFill>
          <a:ln w="12700">
            <a:solidFill>
              <a:srgbClr val="EAF2FC"/>
            </a:solidFill>
            <a:prstDash val="solid"/>
          </a:ln>
        </p:spPr>
      </p:sp>
      <p:sp>
        <p:nvSpPr>
          <p:cNvPr id="17" name="Text 15"/>
          <p:cNvSpPr txBox="1"/>
          <p:nvPr/>
        </p:nvSpPr>
        <p:spPr>
          <a:xfrm>
            <a:off x="6903720" y="3246120"/>
            <a:ext cx="1645920" cy="320040"/>
          </a:xfrm>
          <a:prstGeom prst="rect">
            <a:avLst/>
          </a:prstGeom>
          <a:noFill/>
          <a:ln/>
        </p:spPr>
        <p:txBody>
          <a:bodyPr wrap="square" lIns="0" tIns="0" rIns="0" bIns="0" rtlCol="0" anchor="t"/>
          <a:lstStyle/>
          <a:p>
            <a:pPr indent="0" marL="0">
              <a:buNone/>
            </a:pPr>
            <a:r>
              <a:rPr lang="en-US" sz="1500" b="1" dirty="0">
                <a:solidFill>
                  <a:srgbClr val="0B2545"/>
                </a:solidFill>
                <a:latin typeface="Calibri" pitchFamily="34" charset="0"/>
                <a:ea typeface="Calibri" pitchFamily="34" charset="-122"/>
                <a:cs typeface="Calibri" pitchFamily="34" charset="-120"/>
              </a:rPr>
              <a:t>Field verification</a:t>
            </a:r>
            <a:endParaRPr lang="en-US" sz="1500" dirty="0"/>
          </a:p>
        </p:txBody>
      </p:sp>
      <p:sp>
        <p:nvSpPr>
          <p:cNvPr id="18" name="Text 16"/>
          <p:cNvSpPr txBox="1"/>
          <p:nvPr/>
        </p:nvSpPr>
        <p:spPr>
          <a:xfrm>
            <a:off x="6903720" y="3749040"/>
            <a:ext cx="1645920" cy="365760"/>
          </a:xfrm>
          <a:prstGeom prst="rect">
            <a:avLst/>
          </a:prstGeom>
          <a:noFill/>
          <a:ln/>
        </p:spPr>
        <p:txBody>
          <a:bodyPr wrap="square" lIns="0" tIns="0" rIns="0" bIns="0" rtlCol="0" anchor="t"/>
          <a:lstStyle/>
          <a:p>
            <a:pPr indent="0" marL="0">
              <a:buNone/>
            </a:pPr>
            <a:r>
              <a:rPr lang="en-US" sz="1200" dirty="0">
                <a:solidFill>
                  <a:srgbClr val="56698A"/>
                </a:solidFill>
                <a:latin typeface="Calibri" pitchFamily="34" charset="0"/>
                <a:ea typeface="Calibri" pitchFamily="34" charset="-122"/>
                <a:cs typeface="Calibri" pitchFamily="34" charset="-120"/>
              </a:rPr>
              <a:t>Locations and devices</a:t>
            </a:r>
            <a:endParaRPr lang="en-US" sz="1200" dirty="0"/>
          </a:p>
        </p:txBody>
      </p:sp>
      <p:sp>
        <p:nvSpPr>
          <p:cNvPr id="19" name="Text 17"/>
          <p:cNvSpPr txBox="1"/>
          <p:nvPr/>
        </p:nvSpPr>
        <p:spPr>
          <a:xfrm>
            <a:off x="457200" y="4526280"/>
            <a:ext cx="8229600" cy="274320"/>
          </a:xfrm>
          <a:prstGeom prst="rect">
            <a:avLst/>
          </a:prstGeom>
          <a:noFill/>
          <a:ln/>
        </p:spPr>
        <p:txBody>
          <a:bodyPr wrap="square" lIns="0" tIns="0" rIns="0" bIns="0" rtlCol="0" anchor="t"/>
          <a:lstStyle/>
          <a:p>
            <a:pPr indent="0" marL="0">
              <a:buNone/>
            </a:pPr>
            <a:r>
              <a:rPr lang="en-US" sz="1200" i="1" dirty="0">
                <a:solidFill>
                  <a:srgbClr val="56698A"/>
                </a:solidFill>
                <a:latin typeface="Calibri" pitchFamily="34" charset="0"/>
                <a:ea typeface="Calibri" pitchFamily="34" charset="-122"/>
                <a:cs typeface="Calibri" pitchFamily="34" charset="-120"/>
              </a:rPr>
              <a:t>Weeks of manual tracing, reduced to minutes. Legal mappings to be verified with the legal officer.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6583680" y="914400"/>
            <a:ext cx="1280160" cy="640080"/>
          </a:xfrm>
          <a:prstGeom prst="line">
            <a:avLst/>
          </a:prstGeom>
          <a:noFill/>
          <a:ln w="15875">
            <a:solidFill>
              <a:srgbClr val="2F5B96"/>
            </a:solidFill>
            <a:prstDash val="solid"/>
          </a:ln>
        </p:spPr>
      </p:sp>
      <p:sp>
        <p:nvSpPr>
          <p:cNvPr id="3" name="Shape 1"/>
          <p:cNvSpPr/>
          <p:nvPr/>
        </p:nvSpPr>
        <p:spPr>
          <a:xfrm flipV="1">
            <a:off x="6035040" y="914400"/>
            <a:ext cx="548640" cy="1463040"/>
          </a:xfrm>
          <a:prstGeom prst="line">
            <a:avLst/>
          </a:prstGeom>
          <a:noFill/>
          <a:ln w="15875">
            <a:solidFill>
              <a:srgbClr val="2F5B96"/>
            </a:solidFill>
            <a:prstDash val="solid"/>
          </a:ln>
        </p:spPr>
      </p:sp>
      <p:sp>
        <p:nvSpPr>
          <p:cNvPr id="4" name="Shape 2"/>
          <p:cNvSpPr/>
          <p:nvPr/>
        </p:nvSpPr>
        <p:spPr>
          <a:xfrm flipV="1">
            <a:off x="7315200" y="1554480"/>
            <a:ext cx="548640" cy="1097280"/>
          </a:xfrm>
          <a:prstGeom prst="line">
            <a:avLst/>
          </a:prstGeom>
          <a:noFill/>
          <a:ln w="15875">
            <a:solidFill>
              <a:srgbClr val="2F5B96"/>
            </a:solidFill>
            <a:prstDash val="solid"/>
          </a:ln>
        </p:spPr>
      </p:sp>
      <p:sp>
        <p:nvSpPr>
          <p:cNvPr id="5" name="Shape 3"/>
          <p:cNvSpPr/>
          <p:nvPr/>
        </p:nvSpPr>
        <p:spPr>
          <a:xfrm>
            <a:off x="6035040" y="2377440"/>
            <a:ext cx="1280160" cy="274320"/>
          </a:xfrm>
          <a:prstGeom prst="line">
            <a:avLst/>
          </a:prstGeom>
          <a:noFill/>
          <a:ln w="15875">
            <a:solidFill>
              <a:srgbClr val="2F5B96"/>
            </a:solidFill>
            <a:prstDash val="solid"/>
          </a:ln>
        </p:spPr>
      </p:sp>
      <p:sp>
        <p:nvSpPr>
          <p:cNvPr id="6" name="Shape 4"/>
          <p:cNvSpPr/>
          <p:nvPr/>
        </p:nvSpPr>
        <p:spPr>
          <a:xfrm>
            <a:off x="7315200" y="2651760"/>
            <a:ext cx="1097280" cy="548640"/>
          </a:xfrm>
          <a:prstGeom prst="line">
            <a:avLst/>
          </a:prstGeom>
          <a:noFill/>
          <a:ln w="15875">
            <a:solidFill>
              <a:srgbClr val="2F5B96"/>
            </a:solidFill>
            <a:prstDash val="solid"/>
          </a:ln>
        </p:spPr>
      </p:sp>
      <p:sp>
        <p:nvSpPr>
          <p:cNvPr id="7" name="Shape 5"/>
          <p:cNvSpPr/>
          <p:nvPr/>
        </p:nvSpPr>
        <p:spPr>
          <a:xfrm>
            <a:off x="6035040" y="2377440"/>
            <a:ext cx="365760" cy="1463040"/>
          </a:xfrm>
          <a:prstGeom prst="line">
            <a:avLst/>
          </a:prstGeom>
          <a:noFill/>
          <a:ln w="15875">
            <a:solidFill>
              <a:srgbClr val="2F5B96"/>
            </a:solidFill>
            <a:prstDash val="solid"/>
          </a:ln>
        </p:spPr>
      </p:sp>
      <p:sp>
        <p:nvSpPr>
          <p:cNvPr id="8" name="Shape 6"/>
          <p:cNvSpPr/>
          <p:nvPr/>
        </p:nvSpPr>
        <p:spPr>
          <a:xfrm>
            <a:off x="7315200" y="2651760"/>
            <a:ext cx="365760" cy="1554480"/>
          </a:xfrm>
          <a:prstGeom prst="line">
            <a:avLst/>
          </a:prstGeom>
          <a:noFill/>
          <a:ln w="15875">
            <a:solidFill>
              <a:srgbClr val="2F5B96"/>
            </a:solidFill>
            <a:prstDash val="solid"/>
          </a:ln>
        </p:spPr>
      </p:sp>
      <p:sp>
        <p:nvSpPr>
          <p:cNvPr id="9" name="Shape 7"/>
          <p:cNvSpPr/>
          <p:nvPr/>
        </p:nvSpPr>
        <p:spPr>
          <a:xfrm>
            <a:off x="6400800" y="3840480"/>
            <a:ext cx="1280160" cy="365760"/>
          </a:xfrm>
          <a:prstGeom prst="line">
            <a:avLst/>
          </a:prstGeom>
          <a:noFill/>
          <a:ln w="15875">
            <a:solidFill>
              <a:srgbClr val="2F5B96"/>
            </a:solidFill>
            <a:prstDash val="solid"/>
          </a:ln>
        </p:spPr>
      </p:sp>
      <p:sp>
        <p:nvSpPr>
          <p:cNvPr id="10" name="Shape 8"/>
          <p:cNvSpPr/>
          <p:nvPr/>
        </p:nvSpPr>
        <p:spPr>
          <a:xfrm>
            <a:off x="7863840" y="1554480"/>
            <a:ext cx="548640" cy="1645920"/>
          </a:xfrm>
          <a:prstGeom prst="line">
            <a:avLst/>
          </a:prstGeom>
          <a:noFill/>
          <a:ln w="15875">
            <a:solidFill>
              <a:srgbClr val="2F5B96"/>
            </a:solidFill>
            <a:prstDash val="solid"/>
          </a:ln>
        </p:spPr>
      </p:sp>
      <p:sp>
        <p:nvSpPr>
          <p:cNvPr id="11" name="Shape 9"/>
          <p:cNvSpPr/>
          <p:nvPr/>
        </p:nvSpPr>
        <p:spPr>
          <a:xfrm>
            <a:off x="6428232" y="758952"/>
            <a:ext cx="310896" cy="310896"/>
          </a:xfrm>
          <a:prstGeom prst="ellipse">
            <a:avLst/>
          </a:prstGeom>
          <a:solidFill>
            <a:srgbClr val="6FA8E8"/>
          </a:solidFill>
          <a:ln w="25400">
            <a:solidFill>
              <a:srgbClr val="0B2545"/>
            </a:solidFill>
            <a:prstDash val="solid"/>
          </a:ln>
        </p:spPr>
      </p:sp>
      <p:sp>
        <p:nvSpPr>
          <p:cNvPr id="12" name="Shape 10"/>
          <p:cNvSpPr/>
          <p:nvPr/>
        </p:nvSpPr>
        <p:spPr>
          <a:xfrm>
            <a:off x="7708392" y="1399032"/>
            <a:ext cx="310896" cy="310896"/>
          </a:xfrm>
          <a:prstGeom prst="ellipse">
            <a:avLst/>
          </a:prstGeom>
          <a:solidFill>
            <a:srgbClr val="6FA8E8"/>
          </a:solidFill>
          <a:ln w="25400">
            <a:solidFill>
              <a:srgbClr val="0B2545"/>
            </a:solidFill>
            <a:prstDash val="solid"/>
          </a:ln>
        </p:spPr>
      </p:sp>
      <p:sp>
        <p:nvSpPr>
          <p:cNvPr id="13" name="Shape 11"/>
          <p:cNvSpPr/>
          <p:nvPr/>
        </p:nvSpPr>
        <p:spPr>
          <a:xfrm>
            <a:off x="5879592" y="2221992"/>
            <a:ext cx="310896" cy="310896"/>
          </a:xfrm>
          <a:prstGeom prst="ellipse">
            <a:avLst/>
          </a:prstGeom>
          <a:solidFill>
            <a:srgbClr val="6FA8E8"/>
          </a:solidFill>
          <a:ln w="25400">
            <a:solidFill>
              <a:srgbClr val="0B2545"/>
            </a:solidFill>
            <a:prstDash val="solid"/>
          </a:ln>
        </p:spPr>
      </p:sp>
      <p:sp>
        <p:nvSpPr>
          <p:cNvPr id="14" name="Shape 12"/>
          <p:cNvSpPr/>
          <p:nvPr/>
        </p:nvSpPr>
        <p:spPr>
          <a:xfrm>
            <a:off x="7159752" y="2496312"/>
            <a:ext cx="310896" cy="310896"/>
          </a:xfrm>
          <a:prstGeom prst="ellipse">
            <a:avLst/>
          </a:prstGeom>
          <a:solidFill>
            <a:srgbClr val="4A90D9"/>
          </a:solidFill>
          <a:ln w="25400">
            <a:solidFill>
              <a:srgbClr val="0B2545"/>
            </a:solidFill>
            <a:prstDash val="solid"/>
          </a:ln>
        </p:spPr>
      </p:sp>
      <p:sp>
        <p:nvSpPr>
          <p:cNvPr id="15" name="Shape 13"/>
          <p:cNvSpPr/>
          <p:nvPr/>
        </p:nvSpPr>
        <p:spPr>
          <a:xfrm>
            <a:off x="8257032" y="3044952"/>
            <a:ext cx="310896" cy="310896"/>
          </a:xfrm>
          <a:prstGeom prst="ellipse">
            <a:avLst/>
          </a:prstGeom>
          <a:solidFill>
            <a:srgbClr val="6FA8E8"/>
          </a:solidFill>
          <a:ln w="25400">
            <a:solidFill>
              <a:srgbClr val="0B2545"/>
            </a:solidFill>
            <a:prstDash val="solid"/>
          </a:ln>
        </p:spPr>
      </p:sp>
      <p:sp>
        <p:nvSpPr>
          <p:cNvPr id="16" name="Shape 14"/>
          <p:cNvSpPr/>
          <p:nvPr/>
        </p:nvSpPr>
        <p:spPr>
          <a:xfrm>
            <a:off x="6245352" y="3685032"/>
            <a:ext cx="310896" cy="310896"/>
          </a:xfrm>
          <a:prstGeom prst="ellipse">
            <a:avLst/>
          </a:prstGeom>
          <a:solidFill>
            <a:srgbClr val="6FA8E8"/>
          </a:solidFill>
          <a:ln w="25400">
            <a:solidFill>
              <a:srgbClr val="0B2545"/>
            </a:solidFill>
            <a:prstDash val="solid"/>
          </a:ln>
        </p:spPr>
      </p:sp>
      <p:sp>
        <p:nvSpPr>
          <p:cNvPr id="17" name="Shape 15"/>
          <p:cNvSpPr/>
          <p:nvPr/>
        </p:nvSpPr>
        <p:spPr>
          <a:xfrm>
            <a:off x="7525512" y="4050792"/>
            <a:ext cx="310896" cy="310896"/>
          </a:xfrm>
          <a:prstGeom prst="ellipse">
            <a:avLst/>
          </a:prstGeom>
          <a:solidFill>
            <a:srgbClr val="6FA8E8"/>
          </a:solidFill>
          <a:ln w="25400">
            <a:solidFill>
              <a:srgbClr val="0B2545"/>
            </a:solidFill>
            <a:prstDash val="solid"/>
          </a:ln>
        </p:spPr>
      </p:sp>
      <p:sp>
        <p:nvSpPr>
          <p:cNvPr id="18" name="Text 16"/>
          <p:cNvSpPr txBox="1"/>
          <p:nvPr/>
        </p:nvSpPr>
        <p:spPr>
          <a:xfrm>
            <a:off x="640080" y="1463040"/>
            <a:ext cx="5486400" cy="914400"/>
          </a:xfrm>
          <a:prstGeom prst="rect">
            <a:avLst/>
          </a:prstGeom>
          <a:noFill/>
          <a:ln/>
        </p:spPr>
        <p:txBody>
          <a:bodyPr wrap="square" lIns="0" tIns="0" rIns="0" bIns="0" rtlCol="0" anchor="t"/>
          <a:lstStyle/>
          <a:p>
            <a:pPr indent="0" marL="0">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19" name="Text 17"/>
          <p:cNvSpPr txBox="1"/>
          <p:nvPr/>
        </p:nvSpPr>
        <p:spPr>
          <a:xfrm>
            <a:off x="640080" y="2514600"/>
            <a:ext cx="5486400" cy="548640"/>
          </a:xfrm>
          <a:prstGeom prst="rect">
            <a:avLst/>
          </a:prstGeom>
          <a:noFill/>
          <a:ln/>
        </p:spPr>
        <p:txBody>
          <a:bodyPr wrap="square" lIns="0" tIns="0" rIns="0" bIns="0" rtlCol="0" anchor="t"/>
          <a:lstStyle/>
          <a:p>
            <a:pPr indent="0" marL="0">
              <a:buNone/>
            </a:pPr>
            <a:r>
              <a:rPr lang="en-US" sz="2600" dirty="0">
                <a:solidFill>
                  <a:srgbClr val="8FBCF0"/>
                </a:solidFill>
                <a:latin typeface="Calibri" pitchFamily="34" charset="0"/>
                <a:ea typeface="Calibri" pitchFamily="34" charset="-122"/>
                <a:cs typeface="Calibri" pitchFamily="34" charset="-120"/>
              </a:rPr>
              <a:t>Any questions?</a:t>
            </a:r>
            <a:endParaRPr lang="en-US" sz="2600" dirty="0"/>
          </a:p>
        </p:txBody>
      </p:sp>
      <p:sp>
        <p:nvSpPr>
          <p:cNvPr id="20" name="Text 18"/>
          <p:cNvSpPr txBox="1"/>
          <p:nvPr/>
        </p:nvSpPr>
        <p:spPr>
          <a:xfrm>
            <a:off x="640080" y="3840480"/>
            <a:ext cx="5486400" cy="365760"/>
          </a:xfrm>
          <a:prstGeom prst="rect">
            <a:avLst/>
          </a:prstGeom>
          <a:noFill/>
          <a:ln/>
        </p:spPr>
        <p:txBody>
          <a:bodyPr wrap="square" lIns="0" tIns="0" rIns="0" bIns="0" rtlCol="0" anchor="t"/>
          <a:lstStyle/>
          <a:p>
            <a:pPr indent="0" marL="0">
              <a:buNone/>
            </a:pPr>
            <a:r>
              <a:rPr lang="en-US" sz="1400" dirty="0">
                <a:solidFill>
                  <a:srgbClr val="C9DDF5"/>
                </a:solidFill>
                <a:latin typeface="Calibri" pitchFamily="34" charset="0"/>
                <a:ea typeface="Calibri" pitchFamily="34" charset="-122"/>
                <a:cs typeface="Calibri" pitchFamily="34" charset="-120"/>
              </a:rPr>
              <a:t>Fraud Lens  |  By TetraPack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Fraud Lens - TetraPack</dc:title>
  <dc:subject>PptxGenJS Presentation</dc:subject>
  <dc:creator>PptxGenJS</dc:creator>
  <cp:lastModifiedBy>PptxGenJS</cp:lastModifiedBy>
  <cp:revision>1</cp:revision>
  <dcterms:created xsi:type="dcterms:W3CDTF">2026-09-28T09:08:38Z</dcterms:created>
  <dcterms:modified xsi:type="dcterms:W3CDTF">2026-09-28T09:08:38Z</dcterms:modified>
</cp:coreProperties>
</file>