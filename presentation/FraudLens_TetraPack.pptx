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TetraPack. Fraud Lens is a Bob-powered tool that turns messy cyber fraud intelligence into an FIR-ready case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Jamtara: over 95,000 UPI fraud cases in FY2023. Investigators spent weeks tracing accounts, SIMs and devices by hand, and most cases went unsolved for lack of network visualization.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from raw records to case brief. Investigators simply ask Bob in plain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Investigators use the graph UI or chat with Bob. Bob routes each question to four engines that read and write one temporal knowledge graph. Findings flow through the investigation engine and the legal layer into the case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 is the chatbot on top of the graph. Investigators ask questions in plain language: trace, explain, challenge, compare and simulate. The exchange shown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and community analysis surface one kingpin, a layer of mules, and many victims. The SIM-swap detector explains how each victim was drained. Data shown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differentiators: the SIM-swap detector, the action engine that computes what to freeze, and the legal layer that maps findings to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is FIR-ready, with evidence IDs and mapped legal sections, plus four concrete actions: freeze now, telecom requests, bank requests and field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investigators will be able to add a new case directly in the tool, and every case is saved, so old cases persist and can be reopened and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3" name="Shape 0"/>
          <p:cNvSpPr/>
          <p:nvPr/>
        </p:nvSpPr>
        <p:spPr>
          <a:xfrm>
            <a:off x="6949440" y="1097280"/>
            <a:ext cx="1188720" cy="640080"/>
          </a:xfrm>
          <a:prstGeom prst="line">
            <a:avLst/>
          </a:prstGeom>
          <a:noFill/>
          <a:ln w="19050">
            <a:solidFill>
              <a:srgbClr val="3B6FD8"/>
            </a:solidFill>
            <a:prstDash val="solid"/>
          </a:ln>
        </p:spPr>
      </p:sp>
      <p:sp>
        <p:nvSpPr>
          <p:cNvPr id="4" name="Shape 1"/>
          <p:cNvSpPr/>
          <p:nvPr/>
        </p:nvSpPr>
        <p:spPr>
          <a:xfrm flipV="1">
            <a:off x="7589520" y="1737360"/>
            <a:ext cx="548640" cy="1005840"/>
          </a:xfrm>
          <a:prstGeom prst="line">
            <a:avLst/>
          </a:prstGeom>
          <a:noFill/>
          <a:ln w="19050">
            <a:solidFill>
              <a:srgbClr val="3B6FD8"/>
            </a:solidFill>
            <a:prstDash val="solid"/>
          </a:ln>
        </p:spPr>
      </p:sp>
      <p:sp>
        <p:nvSpPr>
          <p:cNvPr id="5" name="Shape 2"/>
          <p:cNvSpPr/>
          <p:nvPr/>
        </p:nvSpPr>
        <p:spPr>
          <a:xfrm flipV="1">
            <a:off x="6675120" y="1097280"/>
            <a:ext cx="274320" cy="1097280"/>
          </a:xfrm>
          <a:prstGeom prst="line">
            <a:avLst/>
          </a:prstGeom>
          <a:noFill/>
          <a:ln w="19050">
            <a:solidFill>
              <a:srgbClr val="3B6FD8"/>
            </a:solidFill>
            <a:prstDash val="solid"/>
          </a:ln>
        </p:spPr>
      </p:sp>
      <p:sp>
        <p:nvSpPr>
          <p:cNvPr id="6" name="Shape 3"/>
          <p:cNvSpPr/>
          <p:nvPr/>
        </p:nvSpPr>
        <p:spPr>
          <a:xfrm>
            <a:off x="6675120" y="2194560"/>
            <a:ext cx="914400" cy="548640"/>
          </a:xfrm>
          <a:prstGeom prst="line">
            <a:avLst/>
          </a:prstGeom>
          <a:noFill/>
          <a:ln w="19050">
            <a:solidFill>
              <a:srgbClr val="3B6FD8"/>
            </a:solidFill>
            <a:prstDash val="solid"/>
          </a:ln>
        </p:spPr>
      </p:sp>
      <p:sp>
        <p:nvSpPr>
          <p:cNvPr id="7" name="Shape 4"/>
          <p:cNvSpPr/>
          <p:nvPr/>
        </p:nvSpPr>
        <p:spPr>
          <a:xfrm>
            <a:off x="7589520" y="2743200"/>
            <a:ext cx="274320" cy="1097280"/>
          </a:xfrm>
          <a:prstGeom prst="line">
            <a:avLst/>
          </a:prstGeom>
          <a:noFill/>
          <a:ln w="19050">
            <a:solidFill>
              <a:srgbClr val="3B6FD8"/>
            </a:solidFill>
            <a:prstDash val="solid"/>
          </a:ln>
        </p:spPr>
      </p:sp>
      <p:sp>
        <p:nvSpPr>
          <p:cNvPr id="8" name="Shape 5"/>
          <p:cNvSpPr/>
          <p:nvPr/>
        </p:nvSpPr>
        <p:spPr>
          <a:xfrm>
            <a:off x="6675120" y="2194560"/>
            <a:ext cx="182880" cy="1371600"/>
          </a:xfrm>
          <a:prstGeom prst="line">
            <a:avLst/>
          </a:prstGeom>
          <a:noFill/>
          <a:ln w="19050">
            <a:solidFill>
              <a:srgbClr val="3B6FD8"/>
            </a:solidFill>
            <a:prstDash val="solid"/>
          </a:ln>
        </p:spPr>
      </p:sp>
      <p:sp>
        <p:nvSpPr>
          <p:cNvPr id="9" name="Shape 6"/>
          <p:cNvSpPr/>
          <p:nvPr/>
        </p:nvSpPr>
        <p:spPr>
          <a:xfrm>
            <a:off x="6858000" y="3566160"/>
            <a:ext cx="1005840" cy="274320"/>
          </a:xfrm>
          <a:prstGeom prst="line">
            <a:avLst/>
          </a:prstGeom>
          <a:noFill/>
          <a:ln w="19050">
            <a:solidFill>
              <a:srgbClr val="3B6FD8"/>
            </a:solidFill>
            <a:prstDash val="solid"/>
          </a:ln>
        </p:spPr>
      </p:sp>
      <p:sp>
        <p:nvSpPr>
          <p:cNvPr id="10" name="Shape 7"/>
          <p:cNvSpPr/>
          <p:nvPr/>
        </p:nvSpPr>
        <p:spPr>
          <a:xfrm>
            <a:off x="6821424" y="969264"/>
            <a:ext cx="256032" cy="256032"/>
          </a:xfrm>
          <a:prstGeom prst="ellipse">
            <a:avLst/>
          </a:prstGeom>
          <a:solidFill>
            <a:srgbClr val="4F8BFF"/>
          </a:solidFill>
          <a:ln w="12700">
            <a:solidFill>
              <a:srgbClr val="4F8BFF"/>
            </a:solidFill>
            <a:prstDash val="solid"/>
          </a:ln>
        </p:spPr>
      </p:sp>
      <p:sp>
        <p:nvSpPr>
          <p:cNvPr id="11" name="Shape 8"/>
          <p:cNvSpPr/>
          <p:nvPr/>
        </p:nvSpPr>
        <p:spPr>
          <a:xfrm>
            <a:off x="8010144" y="1609344"/>
            <a:ext cx="256032" cy="256032"/>
          </a:xfrm>
          <a:prstGeom prst="ellipse">
            <a:avLst/>
          </a:prstGeom>
          <a:solidFill>
            <a:srgbClr val="4F8BFF"/>
          </a:solidFill>
          <a:ln w="12700">
            <a:solidFill>
              <a:srgbClr val="4F8BFF"/>
            </a:solidFill>
            <a:prstDash val="solid"/>
          </a:ln>
        </p:spPr>
      </p:sp>
      <p:sp>
        <p:nvSpPr>
          <p:cNvPr id="12" name="Shape 9"/>
          <p:cNvSpPr/>
          <p:nvPr/>
        </p:nvSpPr>
        <p:spPr>
          <a:xfrm>
            <a:off x="7461504" y="2615184"/>
            <a:ext cx="365760" cy="365760"/>
          </a:xfrm>
          <a:prstGeom prst="ellipse">
            <a:avLst/>
          </a:prstGeom>
          <a:solidFill>
            <a:srgbClr val="F59E0B"/>
          </a:solidFill>
          <a:ln w="12700">
            <a:solidFill>
              <a:srgbClr val="F59E0B"/>
            </a:solidFill>
            <a:prstDash val="solid"/>
          </a:ln>
        </p:spPr>
      </p:sp>
      <p:sp>
        <p:nvSpPr>
          <p:cNvPr id="13" name="Shape 10"/>
          <p:cNvSpPr/>
          <p:nvPr/>
        </p:nvSpPr>
        <p:spPr>
          <a:xfrm>
            <a:off x="6547104" y="2066544"/>
            <a:ext cx="256032" cy="256032"/>
          </a:xfrm>
          <a:prstGeom prst="ellipse">
            <a:avLst/>
          </a:prstGeom>
          <a:solidFill>
            <a:srgbClr val="4F8BFF"/>
          </a:solidFill>
          <a:ln w="12700">
            <a:solidFill>
              <a:srgbClr val="4F8BFF"/>
            </a:solidFill>
            <a:prstDash val="solid"/>
          </a:ln>
        </p:spPr>
      </p:sp>
      <p:sp>
        <p:nvSpPr>
          <p:cNvPr id="14" name="Shape 11"/>
          <p:cNvSpPr/>
          <p:nvPr/>
        </p:nvSpPr>
        <p:spPr>
          <a:xfrm>
            <a:off x="7735824" y="3712464"/>
            <a:ext cx="256032" cy="256032"/>
          </a:xfrm>
          <a:prstGeom prst="ellipse">
            <a:avLst/>
          </a:prstGeom>
          <a:solidFill>
            <a:srgbClr val="4F8BFF"/>
          </a:solidFill>
          <a:ln w="12700">
            <a:solidFill>
              <a:srgbClr val="4F8BFF"/>
            </a:solidFill>
            <a:prstDash val="solid"/>
          </a:ln>
        </p:spPr>
      </p:sp>
      <p:sp>
        <p:nvSpPr>
          <p:cNvPr id="15" name="Shape 12"/>
          <p:cNvSpPr/>
          <p:nvPr/>
        </p:nvSpPr>
        <p:spPr>
          <a:xfrm>
            <a:off x="6729984" y="3438144"/>
            <a:ext cx="256032" cy="256032"/>
          </a:xfrm>
          <a:prstGeom prst="ellipse">
            <a:avLst/>
          </a:prstGeom>
          <a:solidFill>
            <a:srgbClr val="4F8BFF"/>
          </a:solidFill>
          <a:ln w="12700">
            <a:solidFill>
              <a:srgbClr val="4F8BFF"/>
            </a:solidFill>
            <a:prstDash val="solid"/>
          </a:ln>
        </p:spPr>
      </p:sp>
      <p:sp>
        <p:nvSpPr>
          <p:cNvPr id="16" name="Text 13"/>
          <p:cNvSpPr txBox="1"/>
          <p:nvPr/>
        </p:nvSpPr>
        <p:spPr>
          <a:xfrm>
            <a:off x="640080" y="1188720"/>
            <a:ext cx="5486400" cy="274320"/>
          </a:xfrm>
          <a:prstGeom prst="rect">
            <a:avLst/>
          </a:prstGeom>
          <a:noFill/>
          <a:ln/>
        </p:spPr>
        <p:txBody>
          <a:bodyPr wrap="square" lIns="0" tIns="0" rIns="0" bIns="0" rtlCol="0" anchor="t"/>
          <a:lstStyle/>
          <a:p>
            <a:pPr indent="0" marL="0">
              <a:buNone/>
            </a:pPr>
            <a:r>
              <a:rPr lang="en-US" sz="1300" b="1" spc="400" kern="0" dirty="0">
                <a:solidFill>
                  <a:srgbClr val="8FB3FF"/>
                </a:solidFill>
                <a:latin typeface="Calibri" pitchFamily="34" charset="0"/>
                <a:ea typeface="Calibri" pitchFamily="34" charset="-122"/>
                <a:cs typeface="Calibri" pitchFamily="34" charset="-120"/>
              </a:rPr>
              <a:t>CYBER FRAUD INTELLIGENCE</a:t>
            </a:r>
            <a:endParaRPr lang="en-US" sz="1300" dirty="0"/>
          </a:p>
        </p:txBody>
      </p:sp>
      <p:sp>
        <p:nvSpPr>
          <p:cNvPr id="17" name="Text 14"/>
          <p:cNvSpPr txBox="1"/>
          <p:nvPr/>
        </p:nvSpPr>
        <p:spPr>
          <a:xfrm>
            <a:off x="640080" y="1600200"/>
            <a:ext cx="5943600" cy="100584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Fraud Lens</a:t>
            </a:r>
            <a:endParaRPr lang="en-US" sz="6000" dirty="0"/>
          </a:p>
        </p:txBody>
      </p:sp>
      <p:sp>
        <p:nvSpPr>
          <p:cNvPr id="18" name="Text 15"/>
          <p:cNvSpPr txBox="1"/>
          <p:nvPr/>
        </p:nvSpPr>
        <p:spPr>
          <a:xfrm>
            <a:off x="640080" y="2743200"/>
            <a:ext cx="5120640" cy="822960"/>
          </a:xfrm>
          <a:prstGeom prst="rect">
            <a:avLst/>
          </a:prstGeom>
          <a:noFill/>
          <a:ln/>
        </p:spPr>
        <p:txBody>
          <a:bodyPr wrap="square" lIns="0" tIns="0" rIns="0" bIns="0" rtlCol="0" anchor="t"/>
          <a:lstStyle/>
          <a:p>
            <a:pPr indent="0" marL="0">
              <a:buNone/>
            </a:pPr>
            <a:r>
              <a:rPr lang="en-US" sz="1800" dirty="0">
                <a:solidFill>
                  <a:srgbClr val="CFE0FF"/>
                </a:solidFill>
                <a:latin typeface="Calibri" pitchFamily="34" charset="0"/>
                <a:ea typeface="Calibri" pitchFamily="34" charset="-122"/>
                <a:cs typeface="Calibri" pitchFamily="34" charset="-120"/>
              </a:rPr>
              <a:t>A Bob-powered investigation tool that turns raw fraud records into an FIR-ready case brief.</a:t>
            </a:r>
            <a:endParaRPr lang="en-US" sz="1800" dirty="0"/>
          </a:p>
        </p:txBody>
      </p:sp>
      <p:sp>
        <p:nvSpPr>
          <p:cNvPr id="19" name="Shape 16"/>
          <p:cNvSpPr/>
          <p:nvPr/>
        </p:nvSpPr>
        <p:spPr>
          <a:xfrm>
            <a:off x="640080" y="3840480"/>
            <a:ext cx="1828800" cy="411480"/>
          </a:xfrm>
          <a:prstGeom prst="roundRect">
            <a:avLst>
              <a:gd name="adj" fmla="val 48889"/>
            </a:avLst>
          </a:prstGeom>
          <a:solidFill>
            <a:srgbClr val="2563EB"/>
          </a:solidFill>
          <a:ln w="12700">
            <a:solidFill>
              <a:srgbClr val="2563EB"/>
            </a:solidFill>
            <a:prstDash val="solid"/>
          </a:ln>
        </p:spPr>
      </p:sp>
      <p:sp>
        <p:nvSpPr>
          <p:cNvPr id="20" name="Text 17"/>
          <p:cNvSpPr txBox="1"/>
          <p:nvPr/>
        </p:nvSpPr>
        <p:spPr>
          <a:xfrm>
            <a:off x="640080" y="3840480"/>
            <a:ext cx="182880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By TetraPack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The problem: Jamtara SIM-swap ring</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Real case, Jharkhand</a:t>
            </a:r>
            <a:endParaRPr lang="en-US" sz="1500" dirty="0"/>
          </a:p>
        </p:txBody>
      </p:sp>
      <p:sp>
        <p:nvSpPr>
          <p:cNvPr id="5" name="Shape 2"/>
          <p:cNvSpPr/>
          <p:nvPr/>
        </p:nvSpPr>
        <p:spPr>
          <a:xfrm>
            <a:off x="548640" y="1600200"/>
            <a:ext cx="3749040" cy="2926080"/>
          </a:xfrm>
          <a:prstGeom prst="roundRect">
            <a:avLst>
              <a:gd name="adj" fmla="val 3750"/>
            </a:avLst>
          </a:prstGeom>
          <a:solidFill>
            <a:srgbClr val="0B1F3A"/>
          </a:solidFill>
          <a:ln w="12700">
            <a:solidFill>
              <a:srgbClr val="0B1F3A"/>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48640" y="2103120"/>
            <a:ext cx="3749040" cy="1097280"/>
          </a:xfrm>
          <a:prstGeom prst="rect">
            <a:avLst/>
          </a:prstGeom>
          <a:noFill/>
          <a:ln/>
        </p:spPr>
        <p:txBody>
          <a:bodyPr wrap="square" lIns="0" tIns="0" rIns="0" bIns="0" rtlCol="0" anchor="t"/>
          <a:lstStyle/>
          <a:p>
            <a:pPr algn="ctr" indent="0" marL="0">
              <a:buNone/>
            </a:pPr>
            <a:r>
              <a:rPr lang="en-US" sz="6600" b="1" dirty="0">
                <a:solidFill>
                  <a:srgbClr val="FFFFFF"/>
                </a:solidFill>
                <a:latin typeface="Cambria" pitchFamily="34" charset="0"/>
                <a:ea typeface="Cambria" pitchFamily="34" charset="-122"/>
                <a:cs typeface="Cambria" pitchFamily="34" charset="-120"/>
              </a:rPr>
              <a:t>95,000+</a:t>
            </a:r>
            <a:endParaRPr lang="en-US" sz="6600" dirty="0"/>
          </a:p>
        </p:txBody>
      </p:sp>
      <p:sp>
        <p:nvSpPr>
          <p:cNvPr id="7" name="Text 4"/>
          <p:cNvSpPr txBox="1"/>
          <p:nvPr/>
        </p:nvSpPr>
        <p:spPr>
          <a:xfrm>
            <a:off x="548640" y="3291840"/>
            <a:ext cx="3749040" cy="457200"/>
          </a:xfrm>
          <a:prstGeom prst="rect">
            <a:avLst/>
          </a:prstGeom>
          <a:noFill/>
          <a:ln/>
        </p:spPr>
        <p:txBody>
          <a:bodyPr wrap="square" lIns="0" tIns="0" rIns="0" bIns="0" rtlCol="0" anchor="t"/>
          <a:lstStyle/>
          <a:p>
            <a:pPr algn="ctr" indent="0" marL="0">
              <a:buNone/>
            </a:pPr>
            <a:r>
              <a:rPr lang="en-US" sz="1800" dirty="0">
                <a:solidFill>
                  <a:srgbClr val="CFE0FF"/>
                </a:solidFill>
                <a:latin typeface="Calibri" pitchFamily="34" charset="0"/>
                <a:ea typeface="Calibri" pitchFamily="34" charset="-122"/>
                <a:cs typeface="Calibri" pitchFamily="34" charset="-120"/>
              </a:rPr>
              <a:t>UPI fraud cases in FY2023</a:t>
            </a:r>
            <a:endParaRPr lang="en-US" sz="1800" dirty="0"/>
          </a:p>
        </p:txBody>
      </p:sp>
      <p:sp>
        <p:nvSpPr>
          <p:cNvPr id="8" name="Shape 5"/>
          <p:cNvSpPr/>
          <p:nvPr/>
        </p:nvSpPr>
        <p:spPr>
          <a:xfrm>
            <a:off x="4663440" y="1600200"/>
            <a:ext cx="3931920" cy="137160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937760" y="1783080"/>
            <a:ext cx="3474720" cy="457200"/>
          </a:xfrm>
          <a:prstGeom prst="rect">
            <a:avLst/>
          </a:prstGeom>
          <a:noFill/>
          <a:ln/>
        </p:spPr>
        <p:txBody>
          <a:bodyPr wrap="square" lIns="0" tIns="0" rIns="0" bIns="0" rtlCol="0" anchor="t"/>
          <a:lstStyle/>
          <a:p>
            <a:pPr indent="0" marL="0">
              <a:buNone/>
            </a:pPr>
            <a:r>
              <a:rPr lang="en-US" sz="2600" b="1" dirty="0">
                <a:solidFill>
                  <a:srgbClr val="2563EB"/>
                </a:solidFill>
                <a:latin typeface="Cambria" pitchFamily="34" charset="0"/>
                <a:ea typeface="Cambria" pitchFamily="34" charset="-122"/>
                <a:cs typeface="Cambria" pitchFamily="34" charset="-120"/>
              </a:rPr>
              <a:t>Weeks</a:t>
            </a:r>
            <a:endParaRPr lang="en-US" sz="2600" dirty="0"/>
          </a:p>
        </p:txBody>
      </p:sp>
      <p:sp>
        <p:nvSpPr>
          <p:cNvPr id="10" name="Text 7"/>
          <p:cNvSpPr txBox="1"/>
          <p:nvPr/>
        </p:nvSpPr>
        <p:spPr>
          <a:xfrm>
            <a:off x="4937760" y="2313432"/>
            <a:ext cx="347472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Investigators manually traced links between bank accounts, SIM cards and devices.</a:t>
            </a:r>
            <a:endParaRPr lang="en-US" sz="1400" dirty="0"/>
          </a:p>
        </p:txBody>
      </p:sp>
      <p:sp>
        <p:nvSpPr>
          <p:cNvPr id="11" name="Shape 8"/>
          <p:cNvSpPr/>
          <p:nvPr/>
        </p:nvSpPr>
        <p:spPr>
          <a:xfrm>
            <a:off x="4663440" y="3154680"/>
            <a:ext cx="3931920" cy="137160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4937760" y="3337560"/>
            <a:ext cx="3474720" cy="457200"/>
          </a:xfrm>
          <a:prstGeom prst="rect">
            <a:avLst/>
          </a:prstGeom>
          <a:noFill/>
          <a:ln/>
        </p:spPr>
        <p:txBody>
          <a:bodyPr wrap="square" lIns="0" tIns="0" rIns="0" bIns="0" rtlCol="0" anchor="t"/>
          <a:lstStyle/>
          <a:p>
            <a:pPr indent="0" marL="0">
              <a:buNone/>
            </a:pPr>
            <a:r>
              <a:rPr lang="en-US" sz="2600" b="1" dirty="0">
                <a:solidFill>
                  <a:srgbClr val="C2410C"/>
                </a:solidFill>
                <a:latin typeface="Cambria" pitchFamily="34" charset="0"/>
                <a:ea typeface="Cambria" pitchFamily="34" charset="-122"/>
                <a:cs typeface="Cambria" pitchFamily="34" charset="-120"/>
              </a:rPr>
              <a:t>Mostly unsolved</a:t>
            </a:r>
            <a:endParaRPr lang="en-US" sz="2600" dirty="0"/>
          </a:p>
        </p:txBody>
      </p:sp>
      <p:sp>
        <p:nvSpPr>
          <p:cNvPr id="13" name="Text 10"/>
          <p:cNvSpPr txBox="1"/>
          <p:nvPr/>
        </p:nvSpPr>
        <p:spPr>
          <a:xfrm>
            <a:off x="4937760" y="3867912"/>
            <a:ext cx="347472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No network visualization tools to connect the dots across cases.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From unstructured data to case brief</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Mock inputs: transaction records, call logs, device IDs, accused names</a:t>
            </a:r>
            <a:endParaRPr lang="en-US" sz="1500" dirty="0"/>
          </a:p>
        </p:txBody>
      </p:sp>
      <p:sp>
        <p:nvSpPr>
          <p:cNvPr id="5" name="Shape 2"/>
          <p:cNvSpPr/>
          <p:nvPr/>
        </p:nvSpPr>
        <p:spPr>
          <a:xfrm>
            <a:off x="548640"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1005840" y="1874520"/>
            <a:ext cx="566928" cy="566928"/>
          </a:xfrm>
          <a:prstGeom prst="ellipse">
            <a:avLst/>
          </a:prstGeom>
          <a:solidFill>
            <a:srgbClr val="2563EB"/>
          </a:solidFill>
          <a:ln w="12700">
            <a:solidFill>
              <a:srgbClr val="2563EB"/>
            </a:solidFill>
            <a:prstDash val="solid"/>
          </a:ln>
        </p:spPr>
      </p:sp>
      <p:sp>
        <p:nvSpPr>
          <p:cNvPr id="7" name="Text 4"/>
          <p:cNvSpPr txBox="1"/>
          <p:nvPr/>
        </p:nvSpPr>
        <p:spPr>
          <a:xfrm>
            <a:off x="1005840"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548640"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Ingest</a:t>
            </a:r>
            <a:endParaRPr lang="en-US" sz="2000" dirty="0"/>
          </a:p>
        </p:txBody>
      </p:sp>
      <p:sp>
        <p:nvSpPr>
          <p:cNvPr id="9" name="Text 6"/>
          <p:cNvSpPr txBox="1"/>
          <p:nvPr/>
        </p:nvSpPr>
        <p:spPr>
          <a:xfrm>
            <a:off x="658368"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Records loaded into Bob</a:t>
            </a:r>
            <a:endParaRPr lang="en-US" sz="1300" dirty="0"/>
          </a:p>
        </p:txBody>
      </p:sp>
      <p:sp>
        <p:nvSpPr>
          <p:cNvPr id="10" name="Shape 7"/>
          <p:cNvSpPr/>
          <p:nvPr/>
        </p:nvSpPr>
        <p:spPr>
          <a:xfrm>
            <a:off x="2176272"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633472" y="1874520"/>
            <a:ext cx="566928" cy="566928"/>
          </a:xfrm>
          <a:prstGeom prst="ellipse">
            <a:avLst/>
          </a:prstGeom>
          <a:solidFill>
            <a:srgbClr val="2563EB"/>
          </a:solidFill>
          <a:ln w="12700">
            <a:solidFill>
              <a:srgbClr val="2563EB"/>
            </a:solidFill>
            <a:prstDash val="solid"/>
          </a:ln>
        </p:spPr>
      </p:sp>
      <p:sp>
        <p:nvSpPr>
          <p:cNvPr id="12" name="Text 9"/>
          <p:cNvSpPr txBox="1"/>
          <p:nvPr/>
        </p:nvSpPr>
        <p:spPr>
          <a:xfrm>
            <a:off x="2633472"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txBox="1"/>
          <p:nvPr/>
        </p:nvSpPr>
        <p:spPr>
          <a:xfrm>
            <a:off x="2176272"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Extract</a:t>
            </a:r>
            <a:endParaRPr lang="en-US" sz="2000" dirty="0"/>
          </a:p>
        </p:txBody>
      </p:sp>
      <p:sp>
        <p:nvSpPr>
          <p:cNvPr id="14" name="Text 11"/>
          <p:cNvSpPr txBox="1"/>
          <p:nvPr/>
        </p:nvSpPr>
        <p:spPr>
          <a:xfrm>
            <a:off x="2286000"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Entities and relationships resolved</a:t>
            </a:r>
            <a:endParaRPr lang="en-US" sz="1300" dirty="0"/>
          </a:p>
        </p:txBody>
      </p:sp>
      <p:sp>
        <p:nvSpPr>
          <p:cNvPr id="15" name="Shape 12"/>
          <p:cNvSpPr/>
          <p:nvPr/>
        </p:nvSpPr>
        <p:spPr>
          <a:xfrm>
            <a:off x="3803904"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Shape 13"/>
          <p:cNvSpPr/>
          <p:nvPr/>
        </p:nvSpPr>
        <p:spPr>
          <a:xfrm>
            <a:off x="4261104" y="1874520"/>
            <a:ext cx="566928" cy="566928"/>
          </a:xfrm>
          <a:prstGeom prst="ellipse">
            <a:avLst/>
          </a:prstGeom>
          <a:solidFill>
            <a:srgbClr val="2563EB"/>
          </a:solidFill>
          <a:ln w="12700">
            <a:solidFill>
              <a:srgbClr val="2563EB"/>
            </a:solidFill>
            <a:prstDash val="solid"/>
          </a:ln>
        </p:spPr>
      </p:sp>
      <p:sp>
        <p:nvSpPr>
          <p:cNvPr id="17" name="Text 14"/>
          <p:cNvSpPr txBox="1"/>
          <p:nvPr/>
        </p:nvSpPr>
        <p:spPr>
          <a:xfrm>
            <a:off x="4261104"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3803904"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Detect</a:t>
            </a:r>
            <a:endParaRPr lang="en-US" sz="2000" dirty="0"/>
          </a:p>
        </p:txBody>
      </p:sp>
      <p:sp>
        <p:nvSpPr>
          <p:cNvPr id="19" name="Text 16"/>
          <p:cNvSpPr txBox="1"/>
          <p:nvPr/>
        </p:nvSpPr>
        <p:spPr>
          <a:xfrm>
            <a:off x="3913632"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SIM-swap chain and pattern type</a:t>
            </a:r>
            <a:endParaRPr lang="en-US" sz="1300" dirty="0"/>
          </a:p>
        </p:txBody>
      </p:sp>
      <p:sp>
        <p:nvSpPr>
          <p:cNvPr id="20" name="Shape 17"/>
          <p:cNvSpPr/>
          <p:nvPr/>
        </p:nvSpPr>
        <p:spPr>
          <a:xfrm>
            <a:off x="5431536" y="1691640"/>
            <a:ext cx="1481328" cy="2103120"/>
          </a:xfrm>
          <a:prstGeom prst="roundRect">
            <a:avLst>
              <a:gd name="adj" fmla="val 617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1" name="Shape 18"/>
          <p:cNvSpPr/>
          <p:nvPr/>
        </p:nvSpPr>
        <p:spPr>
          <a:xfrm>
            <a:off x="5888736" y="1874520"/>
            <a:ext cx="566928" cy="566928"/>
          </a:xfrm>
          <a:prstGeom prst="ellipse">
            <a:avLst/>
          </a:prstGeom>
          <a:solidFill>
            <a:srgbClr val="2563EB"/>
          </a:solidFill>
          <a:ln w="12700">
            <a:solidFill>
              <a:srgbClr val="2563EB"/>
            </a:solidFill>
            <a:prstDash val="solid"/>
          </a:ln>
        </p:spPr>
      </p:sp>
      <p:sp>
        <p:nvSpPr>
          <p:cNvPr id="22" name="Text 19"/>
          <p:cNvSpPr txBox="1"/>
          <p:nvPr/>
        </p:nvSpPr>
        <p:spPr>
          <a:xfrm>
            <a:off x="5888736" y="1874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3" name="Text 20"/>
          <p:cNvSpPr txBox="1"/>
          <p:nvPr/>
        </p:nvSpPr>
        <p:spPr>
          <a:xfrm>
            <a:off x="5431536" y="2606040"/>
            <a:ext cx="1481328" cy="365760"/>
          </a:xfrm>
          <a:prstGeom prst="rect">
            <a:avLst/>
          </a:prstGeom>
          <a:noFill/>
          <a:ln/>
        </p:spPr>
        <p:txBody>
          <a:bodyPr wrap="square" lIns="0" tIns="0" rIns="0" bIns="0" rtlCol="0" anchor="t"/>
          <a:lstStyle/>
          <a:p>
            <a:pPr algn="ctr" indent="0" marL="0">
              <a:buNone/>
            </a:pPr>
            <a:r>
              <a:rPr lang="en-US" sz="2000" b="1" dirty="0">
                <a:solidFill>
                  <a:srgbClr val="0B1F3A"/>
                </a:solidFill>
                <a:latin typeface="Cambria" pitchFamily="34" charset="0"/>
                <a:ea typeface="Cambria" pitchFamily="34" charset="-122"/>
                <a:cs typeface="Cambria" pitchFamily="34" charset="-120"/>
              </a:rPr>
              <a:t>Map</a:t>
            </a:r>
            <a:endParaRPr lang="en-US" sz="2000" dirty="0"/>
          </a:p>
        </p:txBody>
      </p:sp>
      <p:sp>
        <p:nvSpPr>
          <p:cNvPr id="24" name="Text 21"/>
          <p:cNvSpPr txBox="1"/>
          <p:nvPr/>
        </p:nvSpPr>
        <p:spPr>
          <a:xfrm>
            <a:off x="5541264" y="3017520"/>
            <a:ext cx="1261872" cy="685800"/>
          </a:xfrm>
          <a:prstGeom prst="rect">
            <a:avLst/>
          </a:prstGeom>
          <a:noFill/>
          <a:ln/>
        </p:spPr>
        <p:txBody>
          <a:bodyPr wrap="square" lIns="0" tIns="0" rIns="0" bIns="0" rtlCol="0" anchor="t"/>
          <a:lstStyle/>
          <a:p>
            <a:pPr algn="ctr" indent="0" marL="0">
              <a:buNone/>
            </a:pPr>
            <a:r>
              <a:rPr lang="en-US" sz="1300" dirty="0">
                <a:solidFill>
                  <a:srgbClr val="5B6B82"/>
                </a:solidFill>
                <a:latin typeface="Calibri" pitchFamily="34" charset="0"/>
                <a:ea typeface="Calibri" pitchFamily="34" charset="-122"/>
                <a:cs typeface="Calibri" pitchFamily="34" charset="-120"/>
              </a:rPr>
              <a:t>Kingpin, mule, victim hierarchy</a:t>
            </a:r>
            <a:endParaRPr lang="en-US" sz="1300" dirty="0"/>
          </a:p>
        </p:txBody>
      </p:sp>
      <p:sp>
        <p:nvSpPr>
          <p:cNvPr id="25" name="Shape 22"/>
          <p:cNvSpPr/>
          <p:nvPr/>
        </p:nvSpPr>
        <p:spPr>
          <a:xfrm>
            <a:off x="7059168" y="1691640"/>
            <a:ext cx="1481328" cy="2103120"/>
          </a:xfrm>
          <a:prstGeom prst="roundRect">
            <a:avLst>
              <a:gd name="adj" fmla="val 6173"/>
            </a:avLst>
          </a:prstGeom>
          <a:solidFill>
            <a:srgbClr val="2563EB"/>
          </a:solidFill>
          <a:ln w="12700">
            <a:solidFill>
              <a:srgbClr val="2563EB"/>
            </a:solidFill>
            <a:prstDash val="solid"/>
          </a:ln>
          <a:effectLst>
            <a:outerShdw sx="100000" sy="100000" kx="0" ky="0" algn="bl" rotWithShape="0" blurRad="101600" dist="25400" dir="5400000">
              <a:srgbClr val="000000">
                <a:alpha val="12000"/>
              </a:srgbClr>
            </a:outerShdw>
          </a:effectLst>
        </p:spPr>
      </p:sp>
      <p:sp>
        <p:nvSpPr>
          <p:cNvPr id="26" name="Shape 23"/>
          <p:cNvSpPr/>
          <p:nvPr/>
        </p:nvSpPr>
        <p:spPr>
          <a:xfrm>
            <a:off x="7516368" y="1874520"/>
            <a:ext cx="566928" cy="566928"/>
          </a:xfrm>
          <a:prstGeom prst="ellipse">
            <a:avLst/>
          </a:prstGeom>
          <a:solidFill>
            <a:srgbClr val="FFFFFF"/>
          </a:solidFill>
          <a:ln w="12700">
            <a:solidFill>
              <a:srgbClr val="FFFFFF"/>
            </a:solidFill>
            <a:prstDash val="solid"/>
          </a:ln>
        </p:spPr>
      </p:sp>
      <p:sp>
        <p:nvSpPr>
          <p:cNvPr id="27" name="Text 24"/>
          <p:cNvSpPr txBox="1"/>
          <p:nvPr/>
        </p:nvSpPr>
        <p:spPr>
          <a:xfrm>
            <a:off x="7516368" y="1874520"/>
            <a:ext cx="566928" cy="566928"/>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5</a:t>
            </a:r>
            <a:endParaRPr lang="en-US" sz="1800" dirty="0"/>
          </a:p>
        </p:txBody>
      </p:sp>
      <p:sp>
        <p:nvSpPr>
          <p:cNvPr id="28" name="Text 25"/>
          <p:cNvSpPr txBox="1"/>
          <p:nvPr/>
        </p:nvSpPr>
        <p:spPr>
          <a:xfrm>
            <a:off x="7059168" y="2606040"/>
            <a:ext cx="1481328"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Cambria" pitchFamily="34" charset="0"/>
                <a:ea typeface="Cambria" pitchFamily="34" charset="-122"/>
                <a:cs typeface="Cambria" pitchFamily="34" charset="-120"/>
              </a:rPr>
              <a:t>Brief</a:t>
            </a:r>
            <a:endParaRPr lang="en-US" sz="2000" dirty="0"/>
          </a:p>
        </p:txBody>
      </p:sp>
      <p:sp>
        <p:nvSpPr>
          <p:cNvPr id="29" name="Text 26"/>
          <p:cNvSpPr txBox="1"/>
          <p:nvPr/>
        </p:nvSpPr>
        <p:spPr>
          <a:xfrm>
            <a:off x="7168896" y="3017520"/>
            <a:ext cx="1261872" cy="685800"/>
          </a:xfrm>
          <a:prstGeom prst="rect">
            <a:avLst/>
          </a:prstGeom>
          <a:noFill/>
          <a:ln/>
        </p:spPr>
        <p:txBody>
          <a:bodyPr wrap="square" lIns="0" tIns="0" rIns="0" bIns="0" rtlCol="0" anchor="t"/>
          <a:lstStyle/>
          <a:p>
            <a:pPr algn="ctr" indent="0" marL="0">
              <a:buNone/>
            </a:pPr>
            <a:r>
              <a:rPr lang="en-US" sz="1300" dirty="0">
                <a:solidFill>
                  <a:srgbClr val="E0EAFF"/>
                </a:solidFill>
                <a:latin typeface="Calibri" pitchFamily="34" charset="0"/>
                <a:ea typeface="Calibri" pitchFamily="34" charset="-122"/>
                <a:cs typeface="Calibri" pitchFamily="34" charset="-120"/>
              </a:rPr>
              <a:t>FIR-ready brief with actions</a:t>
            </a:r>
            <a:endParaRPr lang="en-US" sz="1300" dirty="0"/>
          </a:p>
        </p:txBody>
      </p:sp>
      <p:sp>
        <p:nvSpPr>
          <p:cNvPr id="30" name="Shape 27"/>
          <p:cNvSpPr/>
          <p:nvPr/>
        </p:nvSpPr>
        <p:spPr>
          <a:xfrm>
            <a:off x="548640" y="4023360"/>
            <a:ext cx="8046720" cy="594360"/>
          </a:xfrm>
          <a:prstGeom prst="roundRect">
            <a:avLst>
              <a:gd name="adj" fmla="val 15385"/>
            </a:avLst>
          </a:prstGeom>
          <a:solidFill>
            <a:srgbClr val="0B1F3A"/>
          </a:solidFill>
          <a:ln w="12700">
            <a:solidFill>
              <a:srgbClr val="0B1F3A"/>
            </a:solidFill>
            <a:prstDash val="solid"/>
          </a:ln>
        </p:spPr>
      </p:sp>
      <p:sp>
        <p:nvSpPr>
          <p:cNvPr id="31" name="Text 28"/>
          <p:cNvSpPr txBox="1"/>
          <p:nvPr/>
        </p:nvSpPr>
        <p:spPr>
          <a:xfrm>
            <a:off x="548640" y="4023360"/>
            <a:ext cx="804672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Bob orchestrates every step: investigators ask in plain language, Bob calls the right tools.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One graph, four engines, one brief</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Every question routes to the right engine, all reading one graph</a:t>
            </a:r>
            <a:endParaRPr lang="en-US" sz="1500" dirty="0"/>
          </a:p>
        </p:txBody>
      </p:sp>
      <p:sp>
        <p:nvSpPr>
          <p:cNvPr id="5" name="Shape 2"/>
          <p:cNvSpPr/>
          <p:nvPr/>
        </p:nvSpPr>
        <p:spPr>
          <a:xfrm>
            <a:off x="548640" y="1463040"/>
            <a:ext cx="5120640" cy="384048"/>
          </a:xfrm>
          <a:prstGeom prst="roundRect">
            <a:avLst>
              <a:gd name="adj" fmla="val 19048"/>
            </a:avLst>
          </a:prstGeom>
          <a:solidFill>
            <a:srgbClr val="EAF1FF"/>
          </a:solidFill>
          <a:ln w="12700">
            <a:solidFill>
              <a:srgbClr val="EAF1FF"/>
            </a:solidFill>
            <a:prstDash val="solid"/>
          </a:ln>
        </p:spPr>
      </p:sp>
      <p:sp>
        <p:nvSpPr>
          <p:cNvPr id="6" name="Text 3"/>
          <p:cNvSpPr txBox="1"/>
          <p:nvPr/>
        </p:nvSpPr>
        <p:spPr>
          <a:xfrm>
            <a:off x="685800" y="1463040"/>
            <a:ext cx="4937760" cy="384048"/>
          </a:xfrm>
          <a:prstGeom prst="rect">
            <a:avLst/>
          </a:prstGeom>
          <a:noFill/>
          <a:ln/>
        </p:spPr>
        <p:txBody>
          <a:bodyPr wrap="square" lIns="0" tIns="0" rIns="0" bIns="0" rtlCol="0" anchor="ctr"/>
          <a:lstStyle/>
          <a:p>
            <a:pPr indent="0" marL="0">
              <a:buNone/>
            </a:pPr>
            <a:r>
              <a:rPr lang="en-US" sz="1200" dirty="0">
                <a:solidFill>
                  <a:srgbClr val="0B1F3A"/>
                </a:solidFill>
                <a:latin typeface="Calibri" pitchFamily="34" charset="0"/>
                <a:ea typeface="Calibri" pitchFamily="34" charset="-122"/>
                <a:cs typeface="Calibri" pitchFamily="34" charset="-120"/>
              </a:rPr>
              <a:t>Investigator UI: graph, timeline, SIM-swap lane, before/after</a:t>
            </a:r>
            <a:endParaRPr lang="en-US" sz="1200" dirty="0"/>
          </a:p>
        </p:txBody>
      </p:sp>
      <p:sp>
        <p:nvSpPr>
          <p:cNvPr id="7" name="Shape 4"/>
          <p:cNvSpPr/>
          <p:nvPr/>
        </p:nvSpPr>
        <p:spPr>
          <a:xfrm>
            <a:off x="5806440" y="1463040"/>
            <a:ext cx="2788920" cy="384048"/>
          </a:xfrm>
          <a:prstGeom prst="roundRect">
            <a:avLst>
              <a:gd name="adj" fmla="val 19048"/>
            </a:avLst>
          </a:prstGeom>
          <a:solidFill>
            <a:srgbClr val="2563EB"/>
          </a:solidFill>
          <a:ln w="12700">
            <a:solidFill>
              <a:srgbClr val="2563EB"/>
            </a:solidFill>
            <a:prstDash val="solid"/>
          </a:ln>
        </p:spPr>
      </p:sp>
      <p:sp>
        <p:nvSpPr>
          <p:cNvPr id="8" name="Text 5"/>
          <p:cNvSpPr txBox="1"/>
          <p:nvPr/>
        </p:nvSpPr>
        <p:spPr>
          <a:xfrm>
            <a:off x="5806440" y="1463040"/>
            <a:ext cx="27889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Bob Chat: ask in plain language</a:t>
            </a:r>
            <a:endParaRPr lang="en-US" sz="1200" dirty="0"/>
          </a:p>
        </p:txBody>
      </p:sp>
      <p:sp>
        <p:nvSpPr>
          <p:cNvPr id="9" name="Shape 6"/>
          <p:cNvSpPr/>
          <p:nvPr/>
        </p:nvSpPr>
        <p:spPr>
          <a:xfrm>
            <a:off x="548640" y="1938528"/>
            <a:ext cx="8046720" cy="411480"/>
          </a:xfrm>
          <a:prstGeom prst="roundRect">
            <a:avLst>
              <a:gd name="adj" fmla="val 17778"/>
            </a:avLst>
          </a:prstGeom>
          <a:solidFill>
            <a:srgbClr val="0B1F3A"/>
          </a:solidFill>
          <a:ln w="12700">
            <a:solidFill>
              <a:srgbClr val="0B1F3A"/>
            </a:solidFill>
            <a:prstDash val="solid"/>
          </a:ln>
        </p:spPr>
      </p:sp>
      <p:sp>
        <p:nvSpPr>
          <p:cNvPr id="10" name="Text 7"/>
          <p:cNvSpPr txBox="1"/>
          <p:nvPr/>
        </p:nvSpPr>
        <p:spPr>
          <a:xfrm>
            <a:off x="548640" y="1938528"/>
            <a:ext cx="80467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Bob Orchestrator: natural language to tools</a:t>
            </a:r>
            <a:endParaRPr lang="en-US" sz="1400" dirty="0"/>
          </a:p>
        </p:txBody>
      </p:sp>
      <p:sp>
        <p:nvSpPr>
          <p:cNvPr id="11" name="Shape 8"/>
          <p:cNvSpPr/>
          <p:nvPr/>
        </p:nvSpPr>
        <p:spPr>
          <a:xfrm>
            <a:off x="548640"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58368"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Entity Engine</a:t>
            </a:r>
            <a:endParaRPr lang="en-US" sz="1400" dirty="0"/>
          </a:p>
        </p:txBody>
      </p:sp>
      <p:sp>
        <p:nvSpPr>
          <p:cNvPr id="13" name="Text 10"/>
          <p:cNvSpPr txBox="1"/>
          <p:nvPr/>
        </p:nvSpPr>
        <p:spPr>
          <a:xfrm>
            <a:off x="658368"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NER, resolution, normalization</a:t>
            </a:r>
            <a:endParaRPr lang="en-US" sz="1100" dirty="0"/>
          </a:p>
        </p:txBody>
      </p:sp>
      <p:sp>
        <p:nvSpPr>
          <p:cNvPr id="14" name="Shape 11"/>
          <p:cNvSpPr/>
          <p:nvPr/>
        </p:nvSpPr>
        <p:spPr>
          <a:xfrm>
            <a:off x="2587752"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2697480"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Fraud Engine</a:t>
            </a:r>
            <a:endParaRPr lang="en-US" sz="1400" dirty="0"/>
          </a:p>
        </p:txBody>
      </p:sp>
      <p:sp>
        <p:nvSpPr>
          <p:cNvPr id="16" name="Text 13"/>
          <p:cNvSpPr txBox="1"/>
          <p:nvPr/>
        </p:nvSpPr>
        <p:spPr>
          <a:xfrm>
            <a:off x="2697480"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Patterns, centrality, communities, SIM-swap detector</a:t>
            </a:r>
            <a:endParaRPr lang="en-US" sz="1100" dirty="0"/>
          </a:p>
        </p:txBody>
      </p:sp>
      <p:sp>
        <p:nvSpPr>
          <p:cNvPr id="17" name="Shape 14"/>
          <p:cNvSpPr/>
          <p:nvPr/>
        </p:nvSpPr>
        <p:spPr>
          <a:xfrm>
            <a:off x="4626864"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4736592"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Evidence Engine</a:t>
            </a:r>
            <a:endParaRPr lang="en-US" sz="1400" dirty="0"/>
          </a:p>
        </p:txBody>
      </p:sp>
      <p:sp>
        <p:nvSpPr>
          <p:cNvPr id="19" name="Text 16"/>
          <p:cNvSpPr txBox="1"/>
          <p:nvPr/>
        </p:nvSpPr>
        <p:spPr>
          <a:xfrm>
            <a:off x="4736592"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Provenance, confidence, contradictions</a:t>
            </a:r>
            <a:endParaRPr lang="en-US" sz="1100" dirty="0"/>
          </a:p>
        </p:txBody>
      </p:sp>
      <p:sp>
        <p:nvSpPr>
          <p:cNvPr id="20" name="Shape 17"/>
          <p:cNvSpPr/>
          <p:nvPr/>
        </p:nvSpPr>
        <p:spPr>
          <a:xfrm>
            <a:off x="6665976" y="2468880"/>
            <a:ext cx="1920240" cy="1143000"/>
          </a:xfrm>
          <a:prstGeom prst="roundRect">
            <a:avLst>
              <a:gd name="adj" fmla="val 640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1" name="Text 18"/>
          <p:cNvSpPr txBox="1"/>
          <p:nvPr/>
        </p:nvSpPr>
        <p:spPr>
          <a:xfrm>
            <a:off x="6775704" y="2542032"/>
            <a:ext cx="1737360" cy="274320"/>
          </a:xfrm>
          <a:prstGeom prst="rect">
            <a:avLst/>
          </a:prstGeom>
          <a:noFill/>
          <a:ln/>
        </p:spPr>
        <p:txBody>
          <a:bodyPr wrap="square" lIns="0" tIns="0" rIns="0" bIns="0" rtlCol="0" anchor="t"/>
          <a:lstStyle/>
          <a:p>
            <a:pPr indent="0" marL="0">
              <a:buNone/>
            </a:pPr>
            <a:r>
              <a:rPr lang="en-US" sz="1400" b="1" dirty="0">
                <a:solidFill>
                  <a:srgbClr val="2563EB"/>
                </a:solidFill>
                <a:latin typeface="Cambria" pitchFamily="34" charset="0"/>
                <a:ea typeface="Cambria" pitchFamily="34" charset="-122"/>
                <a:cs typeface="Cambria" pitchFamily="34" charset="-120"/>
              </a:rPr>
              <a:t>Action Engine</a:t>
            </a:r>
            <a:endParaRPr lang="en-US" sz="1400" dirty="0"/>
          </a:p>
        </p:txBody>
      </p:sp>
      <p:sp>
        <p:nvSpPr>
          <p:cNvPr id="22" name="Text 19"/>
          <p:cNvSpPr txBox="1"/>
          <p:nvPr/>
        </p:nvSpPr>
        <p:spPr>
          <a:xfrm>
            <a:off x="6775704" y="2852928"/>
            <a:ext cx="1700784" cy="7315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Min-cut solver, before/after simulation</a:t>
            </a:r>
            <a:endParaRPr lang="en-US" sz="1100" dirty="0"/>
          </a:p>
        </p:txBody>
      </p:sp>
      <p:sp>
        <p:nvSpPr>
          <p:cNvPr id="23" name="Shape 20"/>
          <p:cNvSpPr/>
          <p:nvPr/>
        </p:nvSpPr>
        <p:spPr>
          <a:xfrm>
            <a:off x="548640" y="3730752"/>
            <a:ext cx="8046720" cy="457200"/>
          </a:xfrm>
          <a:prstGeom prst="roundRect">
            <a:avLst>
              <a:gd name="adj" fmla="val 16000"/>
            </a:avLst>
          </a:prstGeom>
          <a:solidFill>
            <a:srgbClr val="DCE8FF"/>
          </a:solidFill>
          <a:ln w="12700">
            <a:solidFill>
              <a:srgbClr val="DCE8FF"/>
            </a:solidFill>
            <a:prstDash val="solid"/>
          </a:ln>
        </p:spPr>
      </p:sp>
      <p:sp>
        <p:nvSpPr>
          <p:cNvPr id="24" name="Text 21"/>
          <p:cNvSpPr txBox="1"/>
          <p:nvPr/>
        </p:nvSpPr>
        <p:spPr>
          <a:xfrm>
            <a:off x="548640" y="3730752"/>
            <a:ext cx="8046720" cy="45720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Temporal Knowledge Graph:  People · Accounts · SIMs · Devices · Calls · Payments · Locations · SIM swaps</a:t>
            </a:r>
            <a:endParaRPr lang="en-US" sz="1200" dirty="0"/>
          </a:p>
        </p:txBody>
      </p:sp>
      <p:sp>
        <p:nvSpPr>
          <p:cNvPr id="25" name="Shape 22"/>
          <p:cNvSpPr/>
          <p:nvPr/>
        </p:nvSpPr>
        <p:spPr>
          <a:xfrm>
            <a:off x="548640" y="4315968"/>
            <a:ext cx="2560320" cy="365760"/>
          </a:xfrm>
          <a:prstGeom prst="roundRect">
            <a:avLst>
              <a:gd name="adj" fmla="val 20000"/>
            </a:avLst>
          </a:prstGeom>
          <a:solidFill>
            <a:srgbClr val="EAF1FF"/>
          </a:solidFill>
          <a:ln w="12700">
            <a:solidFill>
              <a:srgbClr val="EAF1FF"/>
            </a:solidFill>
            <a:prstDash val="solid"/>
          </a:ln>
        </p:spPr>
      </p:sp>
      <p:sp>
        <p:nvSpPr>
          <p:cNvPr id="26" name="Text 23"/>
          <p:cNvSpPr txBox="1"/>
          <p:nvPr/>
        </p:nvSpPr>
        <p:spPr>
          <a:xfrm>
            <a:off x="548640" y="4315968"/>
            <a:ext cx="256032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Investigation Engine</a:t>
            </a:r>
            <a:endParaRPr lang="en-US" sz="1200" dirty="0"/>
          </a:p>
        </p:txBody>
      </p:sp>
      <p:sp>
        <p:nvSpPr>
          <p:cNvPr id="27" name="Shape 24"/>
          <p:cNvSpPr/>
          <p:nvPr/>
        </p:nvSpPr>
        <p:spPr>
          <a:xfrm>
            <a:off x="3291840" y="4315968"/>
            <a:ext cx="2560320" cy="365760"/>
          </a:xfrm>
          <a:prstGeom prst="roundRect">
            <a:avLst>
              <a:gd name="adj" fmla="val 20000"/>
            </a:avLst>
          </a:prstGeom>
          <a:solidFill>
            <a:srgbClr val="EAF1FF"/>
          </a:solidFill>
          <a:ln w="12700">
            <a:solidFill>
              <a:srgbClr val="EAF1FF"/>
            </a:solidFill>
            <a:prstDash val="solid"/>
          </a:ln>
        </p:spPr>
      </p:sp>
      <p:sp>
        <p:nvSpPr>
          <p:cNvPr id="28" name="Text 25"/>
          <p:cNvSpPr txBox="1"/>
          <p:nvPr/>
        </p:nvSpPr>
        <p:spPr>
          <a:xfrm>
            <a:off x="3291840" y="4315968"/>
            <a:ext cx="2560320" cy="365760"/>
          </a:xfrm>
          <a:prstGeom prst="rect">
            <a:avLst/>
          </a:prstGeom>
          <a:noFill/>
          <a:ln/>
        </p:spPr>
        <p:txBody>
          <a:bodyPr wrap="square" lIns="0" tIns="0" rIns="0" bIns="0" rtlCol="0" anchor="ctr"/>
          <a:lstStyle/>
          <a:p>
            <a:pPr algn="ctr" indent="0" marL="0">
              <a:buNone/>
            </a:pPr>
            <a:r>
              <a:rPr lang="en-US" sz="1200" b="1" dirty="0">
                <a:solidFill>
                  <a:srgbClr val="0B1F3A"/>
                </a:solidFill>
                <a:latin typeface="Calibri" pitchFamily="34" charset="0"/>
                <a:ea typeface="Calibri" pitchFamily="34" charset="-122"/>
                <a:cs typeface="Calibri" pitchFamily="34" charset="-120"/>
              </a:rPr>
              <a:t>Legal and Compliance Layer</a:t>
            </a:r>
            <a:endParaRPr lang="en-US" sz="1200" dirty="0"/>
          </a:p>
        </p:txBody>
      </p:sp>
      <p:sp>
        <p:nvSpPr>
          <p:cNvPr id="29" name="Shape 26"/>
          <p:cNvSpPr/>
          <p:nvPr/>
        </p:nvSpPr>
        <p:spPr>
          <a:xfrm>
            <a:off x="6035040" y="4315968"/>
            <a:ext cx="2560320" cy="365760"/>
          </a:xfrm>
          <a:prstGeom prst="roundRect">
            <a:avLst>
              <a:gd name="adj" fmla="val 20000"/>
            </a:avLst>
          </a:prstGeom>
          <a:solidFill>
            <a:srgbClr val="0B1F3A"/>
          </a:solidFill>
          <a:ln w="12700">
            <a:solidFill>
              <a:srgbClr val="0B1F3A"/>
            </a:solidFill>
            <a:prstDash val="solid"/>
          </a:ln>
        </p:spPr>
      </p:sp>
      <p:sp>
        <p:nvSpPr>
          <p:cNvPr id="30" name="Text 27"/>
          <p:cNvSpPr txBox="1"/>
          <p:nvPr/>
        </p:nvSpPr>
        <p:spPr>
          <a:xfrm>
            <a:off x="6035040" y="4315968"/>
            <a:ext cx="256032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Case Brief Generator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Meet Bob: your investigation copilot</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Illustrative conversation on mock data</a:t>
            </a:r>
            <a:endParaRPr lang="en-US" sz="1500" dirty="0"/>
          </a:p>
        </p:txBody>
      </p:sp>
      <p:sp>
        <p:nvSpPr>
          <p:cNvPr id="5" name="Shape 2"/>
          <p:cNvSpPr/>
          <p:nvPr/>
        </p:nvSpPr>
        <p:spPr>
          <a:xfrm>
            <a:off x="548640" y="1554480"/>
            <a:ext cx="4754880" cy="548640"/>
          </a:xfrm>
          <a:prstGeom prst="roundRect">
            <a:avLst>
              <a:gd name="adj" fmla="val 25000"/>
            </a:avLst>
          </a:prstGeom>
          <a:solidFill>
            <a:srgbClr val="EAF1FF"/>
          </a:solidFill>
          <a:ln w="12700">
            <a:solidFill>
              <a:srgbClr val="EAF1FF"/>
            </a:solidFill>
            <a:prstDash val="solid"/>
          </a:ln>
        </p:spPr>
      </p:sp>
      <p:sp>
        <p:nvSpPr>
          <p:cNvPr id="6" name="Text 3"/>
          <p:cNvSpPr txBox="1"/>
          <p:nvPr/>
        </p:nvSpPr>
        <p:spPr>
          <a:xfrm>
            <a:off x="731520" y="1554480"/>
            <a:ext cx="4480560" cy="548640"/>
          </a:xfrm>
          <a:prstGeom prst="rect">
            <a:avLst/>
          </a:prstGeom>
          <a:noFill/>
          <a:ln/>
        </p:spPr>
        <p:txBody>
          <a:bodyPr wrap="square" lIns="0" tIns="0" rIns="0" bIns="0" rtlCol="0" anchor="ctr"/>
          <a:lstStyle/>
          <a:p>
            <a:pPr indent="0" marL="0">
              <a:buNone/>
            </a:pPr>
            <a:r>
              <a:rPr lang="en-US" sz="1500" dirty="0">
                <a:solidFill>
                  <a:srgbClr val="0B1F3A"/>
                </a:solidFill>
                <a:latin typeface="Calibri" pitchFamily="34" charset="0"/>
                <a:ea typeface="Calibri" pitchFamily="34" charset="-122"/>
                <a:cs typeface="Calibri" pitchFamily="34" charset="-120"/>
              </a:rPr>
              <a:t>Who is the kingpin in this ring?</a:t>
            </a:r>
            <a:endParaRPr lang="en-US" sz="1500" dirty="0"/>
          </a:p>
        </p:txBody>
      </p:sp>
      <p:sp>
        <p:nvSpPr>
          <p:cNvPr id="7" name="Shape 4"/>
          <p:cNvSpPr/>
          <p:nvPr/>
        </p:nvSpPr>
        <p:spPr>
          <a:xfrm>
            <a:off x="548640" y="2240280"/>
            <a:ext cx="4754880" cy="914400"/>
          </a:xfrm>
          <a:prstGeom prst="roundRect">
            <a:avLst>
              <a:gd name="adj" fmla="val 15000"/>
            </a:avLst>
          </a:prstGeom>
          <a:solidFill>
            <a:srgbClr val="0B1F3A"/>
          </a:solidFill>
          <a:ln w="12700">
            <a:solidFill>
              <a:srgbClr val="0B1F3A"/>
            </a:solidFill>
            <a:prstDash val="solid"/>
          </a:ln>
        </p:spPr>
      </p:sp>
      <p:sp>
        <p:nvSpPr>
          <p:cNvPr id="8" name="Text 5"/>
          <p:cNvSpPr txBox="1"/>
          <p:nvPr/>
        </p:nvSpPr>
        <p:spPr>
          <a:xfrm>
            <a:off x="731520" y="2240280"/>
            <a:ext cx="4480560" cy="9144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Top candidate: account A-4821. It receives funds from 3 mules through 27 transfers within 48 hours.</a:t>
            </a:r>
            <a:endParaRPr lang="en-US" sz="1400" dirty="0"/>
          </a:p>
        </p:txBody>
      </p:sp>
      <p:sp>
        <p:nvSpPr>
          <p:cNvPr id="9" name="Shape 6"/>
          <p:cNvSpPr/>
          <p:nvPr/>
        </p:nvSpPr>
        <p:spPr>
          <a:xfrm>
            <a:off x="548640" y="3291840"/>
            <a:ext cx="4754880" cy="548640"/>
          </a:xfrm>
          <a:prstGeom prst="roundRect">
            <a:avLst>
              <a:gd name="adj" fmla="val 25000"/>
            </a:avLst>
          </a:prstGeom>
          <a:solidFill>
            <a:srgbClr val="EAF1FF"/>
          </a:solidFill>
          <a:ln w="12700">
            <a:solidFill>
              <a:srgbClr val="EAF1FF"/>
            </a:solidFill>
            <a:prstDash val="solid"/>
          </a:ln>
        </p:spPr>
      </p:sp>
      <p:sp>
        <p:nvSpPr>
          <p:cNvPr id="10" name="Text 7"/>
          <p:cNvSpPr txBox="1"/>
          <p:nvPr/>
        </p:nvSpPr>
        <p:spPr>
          <a:xfrm>
            <a:off x="731520" y="3291840"/>
            <a:ext cx="4480560" cy="548640"/>
          </a:xfrm>
          <a:prstGeom prst="rect">
            <a:avLst/>
          </a:prstGeom>
          <a:noFill/>
          <a:ln/>
        </p:spPr>
        <p:txBody>
          <a:bodyPr wrap="square" lIns="0" tIns="0" rIns="0" bIns="0" rtlCol="0" anchor="ctr"/>
          <a:lstStyle/>
          <a:p>
            <a:pPr indent="0" marL="0">
              <a:buNone/>
            </a:pPr>
            <a:r>
              <a:rPr lang="en-US" sz="1500" dirty="0">
                <a:solidFill>
                  <a:srgbClr val="0B1F3A"/>
                </a:solidFill>
                <a:latin typeface="Calibri" pitchFamily="34" charset="0"/>
                <a:ea typeface="Calibri" pitchFamily="34" charset="-122"/>
                <a:cs typeface="Calibri" pitchFamily="34" charset="-120"/>
              </a:rPr>
              <a:t>What if we freeze Mule 2?</a:t>
            </a:r>
            <a:endParaRPr lang="en-US" sz="1500" dirty="0"/>
          </a:p>
        </p:txBody>
      </p:sp>
      <p:sp>
        <p:nvSpPr>
          <p:cNvPr id="11" name="Shape 8"/>
          <p:cNvSpPr/>
          <p:nvPr/>
        </p:nvSpPr>
        <p:spPr>
          <a:xfrm>
            <a:off x="548640" y="3977640"/>
            <a:ext cx="4754880" cy="777240"/>
          </a:xfrm>
          <a:prstGeom prst="roundRect">
            <a:avLst>
              <a:gd name="adj" fmla="val 17647"/>
            </a:avLst>
          </a:prstGeom>
          <a:solidFill>
            <a:srgbClr val="0B1F3A"/>
          </a:solidFill>
          <a:ln w="12700">
            <a:solidFill>
              <a:srgbClr val="0B1F3A"/>
            </a:solidFill>
            <a:prstDash val="solid"/>
          </a:ln>
        </p:spPr>
      </p:sp>
      <p:sp>
        <p:nvSpPr>
          <p:cNvPr id="12" name="Text 9"/>
          <p:cNvSpPr txBox="1"/>
          <p:nvPr/>
        </p:nvSpPr>
        <p:spPr>
          <a:xfrm>
            <a:off x="731520" y="3977640"/>
            <a:ext cx="4480560" cy="7772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Freezing 2 accounts cuts about 80% of onward fund flow. Before/after view is ready.</a:t>
            </a:r>
            <a:endParaRPr lang="en-US" sz="1400" dirty="0"/>
          </a:p>
        </p:txBody>
      </p:sp>
      <p:sp>
        <p:nvSpPr>
          <p:cNvPr id="13" name="Shape 10"/>
          <p:cNvSpPr/>
          <p:nvPr/>
        </p:nvSpPr>
        <p:spPr>
          <a:xfrm>
            <a:off x="5577840" y="1554480"/>
            <a:ext cx="3017520" cy="3200400"/>
          </a:xfrm>
          <a:prstGeom prst="roundRect">
            <a:avLst>
              <a:gd name="adj" fmla="val 3030"/>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806440" y="1691640"/>
            <a:ext cx="2651760" cy="365760"/>
          </a:xfrm>
          <a:prstGeom prst="rect">
            <a:avLst/>
          </a:prstGeom>
          <a:noFill/>
          <a:ln/>
        </p:spPr>
        <p:txBody>
          <a:bodyPr wrap="square" lIns="0" tIns="0" rIns="0" bIns="0" rtlCol="0" anchor="t"/>
          <a:lstStyle/>
          <a:p>
            <a:pPr indent="0" marL="0">
              <a:buNone/>
            </a:pPr>
            <a:r>
              <a:rPr lang="en-US" sz="2200" b="1" dirty="0">
                <a:solidFill>
                  <a:srgbClr val="2563EB"/>
                </a:solidFill>
                <a:latin typeface="Cambria" pitchFamily="34" charset="0"/>
                <a:ea typeface="Cambria" pitchFamily="34" charset="-122"/>
                <a:cs typeface="Cambria" pitchFamily="34" charset="-120"/>
              </a:rPr>
              <a:t>Bob can</a:t>
            </a:r>
            <a:endParaRPr lang="en-US" sz="2200" dirty="0"/>
          </a:p>
        </p:txBody>
      </p:sp>
      <p:sp>
        <p:nvSpPr>
          <p:cNvPr id="15" name="Shape 12"/>
          <p:cNvSpPr/>
          <p:nvPr/>
        </p:nvSpPr>
        <p:spPr>
          <a:xfrm>
            <a:off x="5806440" y="2240280"/>
            <a:ext cx="256032" cy="256032"/>
          </a:xfrm>
          <a:prstGeom prst="ellipse">
            <a:avLst/>
          </a:prstGeom>
          <a:solidFill>
            <a:srgbClr val="2563EB"/>
          </a:solidFill>
          <a:ln w="12700">
            <a:solidFill>
              <a:srgbClr val="2563EB"/>
            </a:solidFill>
            <a:prstDash val="solid"/>
          </a:ln>
        </p:spPr>
      </p:sp>
      <p:sp>
        <p:nvSpPr>
          <p:cNvPr id="16" name="Text 13"/>
          <p:cNvSpPr txBox="1"/>
          <p:nvPr/>
        </p:nvSpPr>
        <p:spPr>
          <a:xfrm>
            <a:off x="6172200" y="219456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Trace  </a:t>
            </a:r>
            <a:pPr indent="0" marL="0">
              <a:buNone/>
            </a:pPr>
            <a:r>
              <a:rPr lang="en-US" sz="1200" dirty="0">
                <a:solidFill>
                  <a:srgbClr val="5B6B82"/>
                </a:solidFill>
                <a:latin typeface="Calibri" pitchFamily="34" charset="0"/>
                <a:ea typeface="Calibri" pitchFamily="34" charset="-122"/>
                <a:cs typeface="Calibri" pitchFamily="34" charset="-120"/>
              </a:rPr>
              <a:t>money, call, SIM trails</a:t>
            </a:r>
            <a:endParaRPr lang="en-US" sz="1200" dirty="0"/>
          </a:p>
        </p:txBody>
      </p:sp>
      <p:sp>
        <p:nvSpPr>
          <p:cNvPr id="17" name="Shape 14"/>
          <p:cNvSpPr/>
          <p:nvPr/>
        </p:nvSpPr>
        <p:spPr>
          <a:xfrm>
            <a:off x="5806440" y="2743200"/>
            <a:ext cx="256032" cy="256032"/>
          </a:xfrm>
          <a:prstGeom prst="ellipse">
            <a:avLst/>
          </a:prstGeom>
          <a:solidFill>
            <a:srgbClr val="2563EB"/>
          </a:solidFill>
          <a:ln w="12700">
            <a:solidFill>
              <a:srgbClr val="2563EB"/>
            </a:solidFill>
            <a:prstDash val="solid"/>
          </a:ln>
        </p:spPr>
      </p:sp>
      <p:sp>
        <p:nvSpPr>
          <p:cNvPr id="18" name="Text 15"/>
          <p:cNvSpPr txBox="1"/>
          <p:nvPr/>
        </p:nvSpPr>
        <p:spPr>
          <a:xfrm>
            <a:off x="6172200" y="269748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Explain  </a:t>
            </a:r>
            <a:pPr indent="0" marL="0">
              <a:buNone/>
            </a:pPr>
            <a:r>
              <a:rPr lang="en-US" sz="1200" dirty="0">
                <a:solidFill>
                  <a:srgbClr val="5B6B82"/>
                </a:solidFill>
                <a:latin typeface="Calibri" pitchFamily="34" charset="0"/>
                <a:ea typeface="Calibri" pitchFamily="34" charset="-122"/>
                <a:cs typeface="Calibri" pitchFamily="34" charset="-120"/>
              </a:rPr>
              <a:t>why an account is flagged</a:t>
            </a:r>
            <a:endParaRPr lang="en-US" sz="1200" dirty="0"/>
          </a:p>
        </p:txBody>
      </p:sp>
      <p:sp>
        <p:nvSpPr>
          <p:cNvPr id="19" name="Shape 16"/>
          <p:cNvSpPr/>
          <p:nvPr/>
        </p:nvSpPr>
        <p:spPr>
          <a:xfrm>
            <a:off x="5806440" y="3246120"/>
            <a:ext cx="256032" cy="256032"/>
          </a:xfrm>
          <a:prstGeom prst="ellipse">
            <a:avLst/>
          </a:prstGeom>
          <a:solidFill>
            <a:srgbClr val="2563EB"/>
          </a:solidFill>
          <a:ln w="12700">
            <a:solidFill>
              <a:srgbClr val="2563EB"/>
            </a:solidFill>
            <a:prstDash val="solid"/>
          </a:ln>
        </p:spPr>
      </p:sp>
      <p:sp>
        <p:nvSpPr>
          <p:cNvPr id="20" name="Text 17"/>
          <p:cNvSpPr txBox="1"/>
          <p:nvPr/>
        </p:nvSpPr>
        <p:spPr>
          <a:xfrm>
            <a:off x="6172200" y="320040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Challenge  </a:t>
            </a:r>
            <a:pPr indent="0" marL="0">
              <a:buNone/>
            </a:pPr>
            <a:r>
              <a:rPr lang="en-US" sz="1200" dirty="0">
                <a:solidFill>
                  <a:srgbClr val="5B6B82"/>
                </a:solidFill>
                <a:latin typeface="Calibri" pitchFamily="34" charset="0"/>
                <a:ea typeface="Calibri" pitchFamily="34" charset="-122"/>
                <a:cs typeface="Calibri" pitchFamily="34" charset="-120"/>
              </a:rPr>
              <a:t>contradictions in evidence</a:t>
            </a:r>
            <a:endParaRPr lang="en-US" sz="1200" dirty="0"/>
          </a:p>
        </p:txBody>
      </p:sp>
      <p:sp>
        <p:nvSpPr>
          <p:cNvPr id="21" name="Shape 18"/>
          <p:cNvSpPr/>
          <p:nvPr/>
        </p:nvSpPr>
        <p:spPr>
          <a:xfrm>
            <a:off x="5806440" y="3749040"/>
            <a:ext cx="256032" cy="256032"/>
          </a:xfrm>
          <a:prstGeom prst="ellipse">
            <a:avLst/>
          </a:prstGeom>
          <a:solidFill>
            <a:srgbClr val="2563EB"/>
          </a:solidFill>
          <a:ln w="12700">
            <a:solidFill>
              <a:srgbClr val="2563EB"/>
            </a:solidFill>
            <a:prstDash val="solid"/>
          </a:ln>
        </p:spPr>
      </p:sp>
      <p:sp>
        <p:nvSpPr>
          <p:cNvPr id="22" name="Text 19"/>
          <p:cNvSpPr txBox="1"/>
          <p:nvPr/>
        </p:nvSpPr>
        <p:spPr>
          <a:xfrm>
            <a:off x="6172200" y="370332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Compare  </a:t>
            </a:r>
            <a:pPr indent="0" marL="0">
              <a:buNone/>
            </a:pPr>
            <a:r>
              <a:rPr lang="en-US" sz="1200" dirty="0">
                <a:solidFill>
                  <a:srgbClr val="5B6B82"/>
                </a:solidFill>
                <a:latin typeface="Calibri" pitchFamily="34" charset="0"/>
                <a:ea typeface="Calibri" pitchFamily="34" charset="-122"/>
                <a:cs typeface="Calibri" pitchFamily="34" charset="-120"/>
              </a:rPr>
              <a:t>accounts, cases, patterns</a:t>
            </a:r>
            <a:endParaRPr lang="en-US" sz="1200" dirty="0"/>
          </a:p>
        </p:txBody>
      </p:sp>
      <p:sp>
        <p:nvSpPr>
          <p:cNvPr id="23" name="Shape 20"/>
          <p:cNvSpPr/>
          <p:nvPr/>
        </p:nvSpPr>
        <p:spPr>
          <a:xfrm>
            <a:off x="5806440" y="4251960"/>
            <a:ext cx="256032" cy="256032"/>
          </a:xfrm>
          <a:prstGeom prst="ellipse">
            <a:avLst/>
          </a:prstGeom>
          <a:solidFill>
            <a:srgbClr val="2563EB"/>
          </a:solidFill>
          <a:ln w="12700">
            <a:solidFill>
              <a:srgbClr val="2563EB"/>
            </a:solidFill>
            <a:prstDash val="solid"/>
          </a:ln>
        </p:spPr>
      </p:sp>
      <p:sp>
        <p:nvSpPr>
          <p:cNvPr id="24" name="Text 21"/>
          <p:cNvSpPr txBox="1"/>
          <p:nvPr/>
        </p:nvSpPr>
        <p:spPr>
          <a:xfrm>
            <a:off x="6172200" y="4206240"/>
            <a:ext cx="2331720" cy="457200"/>
          </a:xfrm>
          <a:prstGeom prst="rect">
            <a:avLst/>
          </a:prstGeom>
          <a:noFill/>
          <a:ln/>
        </p:spPr>
        <p:txBody>
          <a:bodyPr wrap="square" lIns="0" tIns="0" rIns="0" bIns="0" rtlCol="0" anchor="ctr"/>
          <a:lstStyle/>
          <a:p>
            <a:pPr indent="0" marL="0">
              <a:buNone/>
            </a:pPr>
            <a:r>
              <a:rPr lang="en-US" sz="1200" b="1" dirty="0">
                <a:solidFill>
                  <a:srgbClr val="0B1F3A"/>
                </a:solidFill>
                <a:latin typeface="Calibri" pitchFamily="34" charset="0"/>
                <a:ea typeface="Calibri" pitchFamily="34" charset="-122"/>
                <a:cs typeface="Calibri" pitchFamily="34" charset="-120"/>
              </a:rPr>
              <a:t>Simulate  </a:t>
            </a:r>
            <a:pPr indent="0" marL="0">
              <a:buNone/>
            </a:pPr>
            <a:r>
              <a:rPr lang="en-US" sz="1200" dirty="0">
                <a:solidFill>
                  <a:srgbClr val="5B6B82"/>
                </a:solidFill>
                <a:latin typeface="Calibri" pitchFamily="34" charset="0"/>
                <a:ea typeface="Calibri" pitchFamily="34" charset="-122"/>
                <a:cs typeface="Calibri" pitchFamily="34" charset="-120"/>
              </a:rPr>
              <a:t>freezes before you act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Mapping the hierarchy</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Kingpin to mule to victim, illustrative mock data</a:t>
            </a:r>
            <a:endParaRPr lang="en-US" sz="1500" dirty="0"/>
          </a:p>
        </p:txBody>
      </p:sp>
      <p:sp>
        <p:nvSpPr>
          <p:cNvPr id="5" name="Shape 2"/>
          <p:cNvSpPr/>
          <p:nvPr/>
        </p:nvSpPr>
        <p:spPr>
          <a:xfrm flipV="1">
            <a:off x="1097280" y="2148840"/>
            <a:ext cx="1280160" cy="914400"/>
          </a:xfrm>
          <a:prstGeom prst="line">
            <a:avLst/>
          </a:prstGeom>
          <a:noFill/>
          <a:ln w="25400">
            <a:solidFill>
              <a:srgbClr val="9DB4E0"/>
            </a:solidFill>
            <a:prstDash val="solid"/>
          </a:ln>
        </p:spPr>
      </p:sp>
      <p:sp>
        <p:nvSpPr>
          <p:cNvPr id="6" name="Shape 3"/>
          <p:cNvSpPr/>
          <p:nvPr/>
        </p:nvSpPr>
        <p:spPr>
          <a:xfrm>
            <a:off x="2377440" y="2148840"/>
            <a:ext cx="0" cy="914400"/>
          </a:xfrm>
          <a:prstGeom prst="line">
            <a:avLst/>
          </a:prstGeom>
          <a:noFill/>
          <a:ln w="25400">
            <a:solidFill>
              <a:srgbClr val="9DB4E0"/>
            </a:solidFill>
            <a:prstDash val="solid"/>
          </a:ln>
        </p:spPr>
      </p:sp>
      <p:sp>
        <p:nvSpPr>
          <p:cNvPr id="7" name="Shape 4"/>
          <p:cNvSpPr/>
          <p:nvPr/>
        </p:nvSpPr>
        <p:spPr>
          <a:xfrm>
            <a:off x="2377440" y="2148840"/>
            <a:ext cx="1280160" cy="914400"/>
          </a:xfrm>
          <a:prstGeom prst="line">
            <a:avLst/>
          </a:prstGeom>
          <a:noFill/>
          <a:ln w="25400">
            <a:solidFill>
              <a:srgbClr val="9DB4E0"/>
            </a:solidFill>
            <a:prstDash val="solid"/>
          </a:ln>
        </p:spPr>
      </p:sp>
      <p:sp>
        <p:nvSpPr>
          <p:cNvPr id="8" name="Shape 5"/>
          <p:cNvSpPr/>
          <p:nvPr/>
        </p:nvSpPr>
        <p:spPr>
          <a:xfrm flipV="1">
            <a:off x="640080" y="3063240"/>
            <a:ext cx="457200" cy="1051560"/>
          </a:xfrm>
          <a:prstGeom prst="line">
            <a:avLst/>
          </a:prstGeom>
          <a:noFill/>
          <a:ln w="25400">
            <a:solidFill>
              <a:srgbClr val="9DB4E0"/>
            </a:solidFill>
            <a:prstDash val="solid"/>
          </a:ln>
        </p:spPr>
      </p:sp>
      <p:sp>
        <p:nvSpPr>
          <p:cNvPr id="9" name="Shape 6"/>
          <p:cNvSpPr/>
          <p:nvPr/>
        </p:nvSpPr>
        <p:spPr>
          <a:xfrm>
            <a:off x="1097280" y="3063240"/>
            <a:ext cx="457200" cy="1051560"/>
          </a:xfrm>
          <a:prstGeom prst="line">
            <a:avLst/>
          </a:prstGeom>
          <a:noFill/>
          <a:ln w="25400">
            <a:solidFill>
              <a:srgbClr val="9DB4E0"/>
            </a:solidFill>
            <a:prstDash val="solid"/>
          </a:ln>
        </p:spPr>
      </p:sp>
      <p:sp>
        <p:nvSpPr>
          <p:cNvPr id="10" name="Shape 7"/>
          <p:cNvSpPr/>
          <p:nvPr/>
        </p:nvSpPr>
        <p:spPr>
          <a:xfrm flipV="1">
            <a:off x="1920240" y="3063240"/>
            <a:ext cx="457200" cy="1051560"/>
          </a:xfrm>
          <a:prstGeom prst="line">
            <a:avLst/>
          </a:prstGeom>
          <a:noFill/>
          <a:ln w="25400">
            <a:solidFill>
              <a:srgbClr val="9DB4E0"/>
            </a:solidFill>
            <a:prstDash val="solid"/>
          </a:ln>
        </p:spPr>
      </p:sp>
      <p:sp>
        <p:nvSpPr>
          <p:cNvPr id="11" name="Shape 8"/>
          <p:cNvSpPr/>
          <p:nvPr/>
        </p:nvSpPr>
        <p:spPr>
          <a:xfrm>
            <a:off x="2377440" y="3063240"/>
            <a:ext cx="457200" cy="1051560"/>
          </a:xfrm>
          <a:prstGeom prst="line">
            <a:avLst/>
          </a:prstGeom>
          <a:noFill/>
          <a:ln w="25400">
            <a:solidFill>
              <a:srgbClr val="9DB4E0"/>
            </a:solidFill>
            <a:prstDash val="solid"/>
          </a:ln>
        </p:spPr>
      </p:sp>
      <p:sp>
        <p:nvSpPr>
          <p:cNvPr id="12" name="Shape 9"/>
          <p:cNvSpPr/>
          <p:nvPr/>
        </p:nvSpPr>
        <p:spPr>
          <a:xfrm flipV="1">
            <a:off x="3200400" y="3063240"/>
            <a:ext cx="457200" cy="1051560"/>
          </a:xfrm>
          <a:prstGeom prst="line">
            <a:avLst/>
          </a:prstGeom>
          <a:noFill/>
          <a:ln w="25400">
            <a:solidFill>
              <a:srgbClr val="9DB4E0"/>
            </a:solidFill>
            <a:prstDash val="solid"/>
          </a:ln>
        </p:spPr>
      </p:sp>
      <p:sp>
        <p:nvSpPr>
          <p:cNvPr id="13" name="Shape 10"/>
          <p:cNvSpPr/>
          <p:nvPr/>
        </p:nvSpPr>
        <p:spPr>
          <a:xfrm>
            <a:off x="3657600" y="3063240"/>
            <a:ext cx="457200" cy="1051560"/>
          </a:xfrm>
          <a:prstGeom prst="line">
            <a:avLst/>
          </a:prstGeom>
          <a:noFill/>
          <a:ln w="25400">
            <a:solidFill>
              <a:srgbClr val="9DB4E0"/>
            </a:solidFill>
            <a:prstDash val="solid"/>
          </a:ln>
        </p:spPr>
      </p:sp>
      <p:sp>
        <p:nvSpPr>
          <p:cNvPr id="14" name="Shape 11"/>
          <p:cNvSpPr/>
          <p:nvPr/>
        </p:nvSpPr>
        <p:spPr>
          <a:xfrm>
            <a:off x="2011680" y="1600200"/>
            <a:ext cx="731520" cy="731520"/>
          </a:xfrm>
          <a:prstGeom prst="ellipse">
            <a:avLst/>
          </a:prstGeom>
          <a:solidFill>
            <a:srgbClr val="F59E0B"/>
          </a:solidFill>
          <a:ln w="12700">
            <a:solidFill>
              <a:srgbClr val="F59E0B"/>
            </a:solidFill>
            <a:prstDash val="solid"/>
          </a:ln>
        </p:spPr>
      </p:sp>
      <p:sp>
        <p:nvSpPr>
          <p:cNvPr id="15" name="Text 12"/>
          <p:cNvSpPr txBox="1"/>
          <p:nvPr/>
        </p:nvSpPr>
        <p:spPr>
          <a:xfrm>
            <a:off x="2011680" y="1600200"/>
            <a:ext cx="731520" cy="731520"/>
          </a:xfrm>
          <a:prstGeom prst="rect">
            <a:avLst/>
          </a:prstGeom>
          <a:noFill/>
          <a:ln/>
        </p:spPr>
        <p:txBody>
          <a:bodyPr wrap="square" lIns="0" tIns="0" rIns="0" bIns="0" rtlCol="0" anchor="ctr"/>
          <a:lstStyle/>
          <a:p>
            <a:pPr algn="ctr" indent="0" marL="0">
              <a:buNone/>
            </a:pPr>
            <a:r>
              <a:rPr lang="en-US" sz="1100" b="1" dirty="0">
                <a:solidFill>
                  <a:srgbClr val="0B1F3A"/>
                </a:solidFill>
                <a:latin typeface="Calibri" pitchFamily="34" charset="0"/>
                <a:ea typeface="Calibri" pitchFamily="34" charset="-122"/>
                <a:cs typeface="Calibri" pitchFamily="34" charset="-120"/>
              </a:rPr>
              <a:t>Kingpin</a:t>
            </a:r>
            <a:endParaRPr lang="en-US" sz="1100" dirty="0"/>
          </a:p>
        </p:txBody>
      </p:sp>
      <p:sp>
        <p:nvSpPr>
          <p:cNvPr id="16" name="Shape 13"/>
          <p:cNvSpPr/>
          <p:nvPr/>
        </p:nvSpPr>
        <p:spPr>
          <a:xfrm>
            <a:off x="777240" y="2743200"/>
            <a:ext cx="640080" cy="640080"/>
          </a:xfrm>
          <a:prstGeom prst="ellipse">
            <a:avLst/>
          </a:prstGeom>
          <a:solidFill>
            <a:srgbClr val="2563EB"/>
          </a:solidFill>
          <a:ln w="12700">
            <a:solidFill>
              <a:srgbClr val="2563EB"/>
            </a:solidFill>
            <a:prstDash val="solid"/>
          </a:ln>
        </p:spPr>
      </p:sp>
      <p:sp>
        <p:nvSpPr>
          <p:cNvPr id="17" name="Text 14"/>
          <p:cNvSpPr txBox="1"/>
          <p:nvPr/>
        </p:nvSpPr>
        <p:spPr>
          <a:xfrm>
            <a:off x="777240" y="2743200"/>
            <a:ext cx="6400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Mule 1</a:t>
            </a:r>
            <a:endParaRPr lang="en-US" sz="1100" dirty="0"/>
          </a:p>
        </p:txBody>
      </p:sp>
      <p:sp>
        <p:nvSpPr>
          <p:cNvPr id="18" name="Shape 15"/>
          <p:cNvSpPr/>
          <p:nvPr/>
        </p:nvSpPr>
        <p:spPr>
          <a:xfrm>
            <a:off x="2057400" y="2743200"/>
            <a:ext cx="640080" cy="640080"/>
          </a:xfrm>
          <a:prstGeom prst="ellipse">
            <a:avLst/>
          </a:prstGeom>
          <a:solidFill>
            <a:srgbClr val="2563EB"/>
          </a:solidFill>
          <a:ln w="12700">
            <a:solidFill>
              <a:srgbClr val="2563EB"/>
            </a:solidFill>
            <a:prstDash val="solid"/>
          </a:ln>
        </p:spPr>
      </p:sp>
      <p:sp>
        <p:nvSpPr>
          <p:cNvPr id="19" name="Text 16"/>
          <p:cNvSpPr txBox="1"/>
          <p:nvPr/>
        </p:nvSpPr>
        <p:spPr>
          <a:xfrm>
            <a:off x="2057400" y="2743200"/>
            <a:ext cx="6400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Mule 2</a:t>
            </a:r>
            <a:endParaRPr lang="en-US" sz="1100" dirty="0"/>
          </a:p>
        </p:txBody>
      </p:sp>
      <p:sp>
        <p:nvSpPr>
          <p:cNvPr id="20" name="Shape 17"/>
          <p:cNvSpPr/>
          <p:nvPr/>
        </p:nvSpPr>
        <p:spPr>
          <a:xfrm>
            <a:off x="3337560" y="2743200"/>
            <a:ext cx="640080" cy="640080"/>
          </a:xfrm>
          <a:prstGeom prst="ellipse">
            <a:avLst/>
          </a:prstGeom>
          <a:solidFill>
            <a:srgbClr val="2563EB"/>
          </a:solidFill>
          <a:ln w="12700">
            <a:solidFill>
              <a:srgbClr val="2563EB"/>
            </a:solidFill>
            <a:prstDash val="solid"/>
          </a:ln>
        </p:spPr>
      </p:sp>
      <p:sp>
        <p:nvSpPr>
          <p:cNvPr id="21" name="Text 18"/>
          <p:cNvSpPr txBox="1"/>
          <p:nvPr/>
        </p:nvSpPr>
        <p:spPr>
          <a:xfrm>
            <a:off x="3337560" y="2743200"/>
            <a:ext cx="6400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Mule 3</a:t>
            </a:r>
            <a:endParaRPr lang="en-US" sz="1100" dirty="0"/>
          </a:p>
        </p:txBody>
      </p:sp>
      <p:sp>
        <p:nvSpPr>
          <p:cNvPr id="22" name="Shape 19"/>
          <p:cNvSpPr/>
          <p:nvPr/>
        </p:nvSpPr>
        <p:spPr>
          <a:xfrm>
            <a:off x="411480" y="4023360"/>
            <a:ext cx="457200" cy="457200"/>
          </a:xfrm>
          <a:prstGeom prst="ellipse">
            <a:avLst/>
          </a:prstGeom>
          <a:solidFill>
            <a:srgbClr val="DCE8FF"/>
          </a:solidFill>
          <a:ln w="12700">
            <a:solidFill>
              <a:srgbClr val="DCE8FF"/>
            </a:solidFill>
            <a:prstDash val="solid"/>
          </a:ln>
        </p:spPr>
      </p:sp>
      <p:sp>
        <p:nvSpPr>
          <p:cNvPr id="23" name="Text 20"/>
          <p:cNvSpPr txBox="1"/>
          <p:nvPr/>
        </p:nvSpPr>
        <p:spPr>
          <a:xfrm>
            <a:off x="41148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V1</a:t>
            </a:r>
            <a:endParaRPr lang="en-US" sz="1000" dirty="0"/>
          </a:p>
        </p:txBody>
      </p:sp>
      <p:sp>
        <p:nvSpPr>
          <p:cNvPr id="24" name="Shape 21"/>
          <p:cNvSpPr/>
          <p:nvPr/>
        </p:nvSpPr>
        <p:spPr>
          <a:xfrm>
            <a:off x="1325880" y="4023360"/>
            <a:ext cx="457200" cy="457200"/>
          </a:xfrm>
          <a:prstGeom prst="ellipse">
            <a:avLst/>
          </a:prstGeom>
          <a:solidFill>
            <a:srgbClr val="DCE8FF"/>
          </a:solidFill>
          <a:ln w="12700">
            <a:solidFill>
              <a:srgbClr val="DCE8FF"/>
            </a:solidFill>
            <a:prstDash val="solid"/>
          </a:ln>
        </p:spPr>
      </p:sp>
      <p:sp>
        <p:nvSpPr>
          <p:cNvPr id="25" name="Text 22"/>
          <p:cNvSpPr txBox="1"/>
          <p:nvPr/>
        </p:nvSpPr>
        <p:spPr>
          <a:xfrm>
            <a:off x="132588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V2</a:t>
            </a:r>
            <a:endParaRPr lang="en-US" sz="1000" dirty="0"/>
          </a:p>
        </p:txBody>
      </p:sp>
      <p:sp>
        <p:nvSpPr>
          <p:cNvPr id="26" name="Shape 23"/>
          <p:cNvSpPr/>
          <p:nvPr/>
        </p:nvSpPr>
        <p:spPr>
          <a:xfrm>
            <a:off x="1691640" y="4023360"/>
            <a:ext cx="457200" cy="457200"/>
          </a:xfrm>
          <a:prstGeom prst="ellipse">
            <a:avLst/>
          </a:prstGeom>
          <a:solidFill>
            <a:srgbClr val="DCE8FF"/>
          </a:solidFill>
          <a:ln w="12700">
            <a:solidFill>
              <a:srgbClr val="DCE8FF"/>
            </a:solidFill>
            <a:prstDash val="solid"/>
          </a:ln>
        </p:spPr>
      </p:sp>
      <p:sp>
        <p:nvSpPr>
          <p:cNvPr id="27" name="Text 24"/>
          <p:cNvSpPr txBox="1"/>
          <p:nvPr/>
        </p:nvSpPr>
        <p:spPr>
          <a:xfrm>
            <a:off x="169164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V3</a:t>
            </a:r>
            <a:endParaRPr lang="en-US" sz="1000" dirty="0"/>
          </a:p>
        </p:txBody>
      </p:sp>
      <p:sp>
        <p:nvSpPr>
          <p:cNvPr id="28" name="Shape 25"/>
          <p:cNvSpPr/>
          <p:nvPr/>
        </p:nvSpPr>
        <p:spPr>
          <a:xfrm>
            <a:off x="2606040" y="4023360"/>
            <a:ext cx="457200" cy="457200"/>
          </a:xfrm>
          <a:prstGeom prst="ellipse">
            <a:avLst/>
          </a:prstGeom>
          <a:solidFill>
            <a:srgbClr val="DCE8FF"/>
          </a:solidFill>
          <a:ln w="12700">
            <a:solidFill>
              <a:srgbClr val="DCE8FF"/>
            </a:solidFill>
            <a:prstDash val="solid"/>
          </a:ln>
        </p:spPr>
      </p:sp>
      <p:sp>
        <p:nvSpPr>
          <p:cNvPr id="29" name="Text 26"/>
          <p:cNvSpPr txBox="1"/>
          <p:nvPr/>
        </p:nvSpPr>
        <p:spPr>
          <a:xfrm>
            <a:off x="260604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V4</a:t>
            </a:r>
            <a:endParaRPr lang="en-US" sz="1000" dirty="0"/>
          </a:p>
        </p:txBody>
      </p:sp>
      <p:sp>
        <p:nvSpPr>
          <p:cNvPr id="30" name="Shape 27"/>
          <p:cNvSpPr/>
          <p:nvPr/>
        </p:nvSpPr>
        <p:spPr>
          <a:xfrm>
            <a:off x="2971800" y="4023360"/>
            <a:ext cx="457200" cy="457200"/>
          </a:xfrm>
          <a:prstGeom prst="ellipse">
            <a:avLst/>
          </a:prstGeom>
          <a:solidFill>
            <a:srgbClr val="DCE8FF"/>
          </a:solidFill>
          <a:ln w="12700">
            <a:solidFill>
              <a:srgbClr val="DCE8FF"/>
            </a:solidFill>
            <a:prstDash val="solid"/>
          </a:ln>
        </p:spPr>
      </p:sp>
      <p:sp>
        <p:nvSpPr>
          <p:cNvPr id="31" name="Text 28"/>
          <p:cNvSpPr txBox="1"/>
          <p:nvPr/>
        </p:nvSpPr>
        <p:spPr>
          <a:xfrm>
            <a:off x="297180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V5</a:t>
            </a:r>
            <a:endParaRPr lang="en-US" sz="1000" dirty="0"/>
          </a:p>
        </p:txBody>
      </p:sp>
      <p:sp>
        <p:nvSpPr>
          <p:cNvPr id="32" name="Shape 29"/>
          <p:cNvSpPr/>
          <p:nvPr/>
        </p:nvSpPr>
        <p:spPr>
          <a:xfrm>
            <a:off x="3886200" y="4023360"/>
            <a:ext cx="457200" cy="457200"/>
          </a:xfrm>
          <a:prstGeom prst="ellipse">
            <a:avLst/>
          </a:prstGeom>
          <a:solidFill>
            <a:srgbClr val="DCE8FF"/>
          </a:solidFill>
          <a:ln w="12700">
            <a:solidFill>
              <a:srgbClr val="DCE8FF"/>
            </a:solidFill>
            <a:prstDash val="solid"/>
          </a:ln>
        </p:spPr>
      </p:sp>
      <p:sp>
        <p:nvSpPr>
          <p:cNvPr id="33" name="Text 30"/>
          <p:cNvSpPr txBox="1"/>
          <p:nvPr/>
        </p:nvSpPr>
        <p:spPr>
          <a:xfrm>
            <a:off x="3886200" y="4023360"/>
            <a:ext cx="457200" cy="457200"/>
          </a:xfrm>
          <a:prstGeom prst="rect">
            <a:avLst/>
          </a:prstGeom>
          <a:noFill/>
          <a:ln/>
        </p:spPr>
        <p:txBody>
          <a:bodyPr wrap="square" lIns="0" tIns="0" rIns="0" bIns="0" rtlCol="0" anchor="ctr"/>
          <a:lstStyle/>
          <a:p>
            <a:pPr algn="ctr" indent="0" marL="0">
              <a:buNone/>
            </a:pPr>
            <a:r>
              <a:rPr lang="en-US" sz="1000" b="1" dirty="0">
                <a:solidFill>
                  <a:srgbClr val="0B1F3A"/>
                </a:solidFill>
                <a:latin typeface="Calibri" pitchFamily="34" charset="0"/>
                <a:ea typeface="Calibri" pitchFamily="34" charset="-122"/>
                <a:cs typeface="Calibri" pitchFamily="34" charset="-120"/>
              </a:rPr>
              <a:t>V6</a:t>
            </a:r>
            <a:endParaRPr lang="en-US" sz="1000" dirty="0"/>
          </a:p>
        </p:txBody>
      </p:sp>
      <p:sp>
        <p:nvSpPr>
          <p:cNvPr id="34" name="Shape 31"/>
          <p:cNvSpPr/>
          <p:nvPr/>
        </p:nvSpPr>
        <p:spPr>
          <a:xfrm>
            <a:off x="5029200" y="1554480"/>
            <a:ext cx="3566160" cy="3108960"/>
          </a:xfrm>
          <a:prstGeom prst="roundRect">
            <a:avLst>
              <a:gd name="adj" fmla="val 2941"/>
            </a:avLst>
          </a:prstGeom>
          <a:solidFill>
            <a:srgbClr val="0B1F3A"/>
          </a:solidFill>
          <a:ln w="12700">
            <a:solidFill>
              <a:srgbClr val="0B1F3A"/>
            </a:solidFill>
            <a:prstDash val="solid"/>
          </a:ln>
          <a:effectLst>
            <a:outerShdw sx="100000" sy="100000" kx="0" ky="0" algn="bl" rotWithShape="0" blurRad="101600" dist="25400" dir="5400000">
              <a:srgbClr val="000000">
                <a:alpha val="12000"/>
              </a:srgbClr>
            </a:outerShdw>
          </a:effectLst>
        </p:spPr>
      </p:sp>
      <p:sp>
        <p:nvSpPr>
          <p:cNvPr id="35" name="Text 32"/>
          <p:cNvSpPr txBox="1"/>
          <p:nvPr/>
        </p:nvSpPr>
        <p:spPr>
          <a:xfrm>
            <a:off x="5303520" y="1737360"/>
            <a:ext cx="3017520" cy="3657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SIM-swap chain</a:t>
            </a:r>
            <a:endParaRPr lang="en-US" sz="2200" dirty="0"/>
          </a:p>
        </p:txBody>
      </p:sp>
      <p:sp>
        <p:nvSpPr>
          <p:cNvPr id="36" name="Shape 33"/>
          <p:cNvSpPr/>
          <p:nvPr/>
        </p:nvSpPr>
        <p:spPr>
          <a:xfrm>
            <a:off x="5303520" y="2286000"/>
            <a:ext cx="329184" cy="329184"/>
          </a:xfrm>
          <a:prstGeom prst="ellipse">
            <a:avLst/>
          </a:prstGeom>
          <a:solidFill>
            <a:srgbClr val="2563EB"/>
          </a:solidFill>
          <a:ln w="12700">
            <a:solidFill>
              <a:srgbClr val="2563EB"/>
            </a:solidFill>
            <a:prstDash val="solid"/>
          </a:ln>
        </p:spPr>
      </p:sp>
      <p:sp>
        <p:nvSpPr>
          <p:cNvPr id="37" name="Text 34"/>
          <p:cNvSpPr txBox="1"/>
          <p:nvPr/>
        </p:nvSpPr>
        <p:spPr>
          <a:xfrm>
            <a:off x="5303520" y="2286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8" name="Text 35"/>
          <p:cNvSpPr txBox="1"/>
          <p:nvPr/>
        </p:nvSpPr>
        <p:spPr>
          <a:xfrm>
            <a:off x="5760720" y="2240280"/>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Victim SIM ported to a new SIM</a:t>
            </a:r>
            <a:endParaRPr lang="en-US" sz="1300" dirty="0"/>
          </a:p>
        </p:txBody>
      </p:sp>
      <p:sp>
        <p:nvSpPr>
          <p:cNvPr id="39" name="Shape 36"/>
          <p:cNvSpPr/>
          <p:nvPr/>
        </p:nvSpPr>
        <p:spPr>
          <a:xfrm>
            <a:off x="5303520" y="2852928"/>
            <a:ext cx="329184" cy="329184"/>
          </a:xfrm>
          <a:prstGeom prst="ellipse">
            <a:avLst/>
          </a:prstGeom>
          <a:solidFill>
            <a:srgbClr val="2563EB"/>
          </a:solidFill>
          <a:ln w="12700">
            <a:solidFill>
              <a:srgbClr val="2563EB"/>
            </a:solidFill>
            <a:prstDash val="solid"/>
          </a:ln>
        </p:spPr>
      </p:sp>
      <p:sp>
        <p:nvSpPr>
          <p:cNvPr id="40" name="Text 37"/>
          <p:cNvSpPr txBox="1"/>
          <p:nvPr/>
        </p:nvSpPr>
        <p:spPr>
          <a:xfrm>
            <a:off x="5303520" y="2852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1" name="Text 38"/>
          <p:cNvSpPr txBox="1"/>
          <p:nvPr/>
        </p:nvSpPr>
        <p:spPr>
          <a:xfrm>
            <a:off x="5760720" y="2807208"/>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OTPs land on the accused device (IMEI)</a:t>
            </a:r>
            <a:endParaRPr lang="en-US" sz="1300" dirty="0"/>
          </a:p>
        </p:txBody>
      </p:sp>
      <p:sp>
        <p:nvSpPr>
          <p:cNvPr id="42" name="Shape 39"/>
          <p:cNvSpPr/>
          <p:nvPr/>
        </p:nvSpPr>
        <p:spPr>
          <a:xfrm>
            <a:off x="5303520" y="3419856"/>
            <a:ext cx="329184" cy="329184"/>
          </a:xfrm>
          <a:prstGeom prst="ellipse">
            <a:avLst/>
          </a:prstGeom>
          <a:solidFill>
            <a:srgbClr val="2563EB"/>
          </a:solidFill>
          <a:ln w="12700">
            <a:solidFill>
              <a:srgbClr val="2563EB"/>
            </a:solidFill>
            <a:prstDash val="solid"/>
          </a:ln>
        </p:spPr>
      </p:sp>
      <p:sp>
        <p:nvSpPr>
          <p:cNvPr id="43" name="Text 40"/>
          <p:cNvSpPr txBox="1"/>
          <p:nvPr/>
        </p:nvSpPr>
        <p:spPr>
          <a:xfrm>
            <a:off x="5303520" y="3419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Text 41"/>
          <p:cNvSpPr txBox="1"/>
          <p:nvPr/>
        </p:nvSpPr>
        <p:spPr>
          <a:xfrm>
            <a:off x="5760720" y="3374136"/>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UPI funds drained to mule accounts</a:t>
            </a:r>
            <a:endParaRPr lang="en-US" sz="1300" dirty="0"/>
          </a:p>
        </p:txBody>
      </p:sp>
      <p:sp>
        <p:nvSpPr>
          <p:cNvPr id="45" name="Shape 42"/>
          <p:cNvSpPr/>
          <p:nvPr/>
        </p:nvSpPr>
        <p:spPr>
          <a:xfrm>
            <a:off x="5303520" y="3986784"/>
            <a:ext cx="329184" cy="329184"/>
          </a:xfrm>
          <a:prstGeom prst="ellipse">
            <a:avLst/>
          </a:prstGeom>
          <a:solidFill>
            <a:srgbClr val="2563EB"/>
          </a:solidFill>
          <a:ln w="12700">
            <a:solidFill>
              <a:srgbClr val="2563EB"/>
            </a:solidFill>
            <a:prstDash val="solid"/>
          </a:ln>
        </p:spPr>
      </p:sp>
      <p:sp>
        <p:nvSpPr>
          <p:cNvPr id="46" name="Text 43"/>
          <p:cNvSpPr txBox="1"/>
          <p:nvPr/>
        </p:nvSpPr>
        <p:spPr>
          <a:xfrm>
            <a:off x="5303520" y="39867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7" name="Text 44"/>
          <p:cNvSpPr txBox="1"/>
          <p:nvPr/>
        </p:nvSpPr>
        <p:spPr>
          <a:xfrm>
            <a:off x="5760720" y="3941064"/>
            <a:ext cx="2651760" cy="457200"/>
          </a:xfrm>
          <a:prstGeom prst="rect">
            <a:avLst/>
          </a:prstGeom>
          <a:noFill/>
          <a:ln/>
        </p:spPr>
        <p:txBody>
          <a:bodyPr wrap="square" lIns="0" tIns="0" rIns="0" bIns="0" rtlCol="0" anchor="ctr"/>
          <a:lstStyle/>
          <a:p>
            <a:pPr indent="0" marL="0">
              <a:buNone/>
            </a:pPr>
            <a:r>
              <a:rPr lang="en-US" sz="1300" dirty="0">
                <a:solidFill>
                  <a:srgbClr val="E0EAFF"/>
                </a:solidFill>
                <a:latin typeface="Calibri" pitchFamily="34" charset="0"/>
                <a:ea typeface="Calibri" pitchFamily="34" charset="-122"/>
                <a:cs typeface="Calibri" pitchFamily="34" charset="-120"/>
              </a:rPr>
              <a:t>Layered upward to the kingpin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What makes Fraud Lens different</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Three capabilities that move from analysis to action</a:t>
            </a:r>
            <a:endParaRPr lang="en-US" sz="1500" dirty="0"/>
          </a:p>
        </p:txBody>
      </p:sp>
      <p:sp>
        <p:nvSpPr>
          <p:cNvPr id="5" name="Shape 2"/>
          <p:cNvSpPr/>
          <p:nvPr/>
        </p:nvSpPr>
        <p:spPr>
          <a:xfrm>
            <a:off x="548640" y="1600200"/>
            <a:ext cx="2560320" cy="3017520"/>
          </a:xfrm>
          <a:prstGeom prst="roundRect">
            <a:avLst>
              <a:gd name="adj" fmla="val 357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777240" y="1828800"/>
            <a:ext cx="640080" cy="640080"/>
          </a:xfrm>
          <a:prstGeom prst="ellipse">
            <a:avLst/>
          </a:prstGeom>
          <a:solidFill>
            <a:srgbClr val="2563EB"/>
          </a:solidFill>
          <a:ln w="12700">
            <a:solidFill>
              <a:srgbClr val="2563EB"/>
            </a:solidFill>
            <a:prstDash val="solid"/>
          </a:ln>
        </p:spPr>
      </p:sp>
      <p:sp>
        <p:nvSpPr>
          <p:cNvPr id="7" name="Text 4"/>
          <p:cNvSpPr txBox="1"/>
          <p:nvPr/>
        </p:nvSpPr>
        <p:spPr>
          <a:xfrm>
            <a:off x="7772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777240" y="2606040"/>
            <a:ext cx="2103120" cy="685800"/>
          </a:xfrm>
          <a:prstGeom prst="rect">
            <a:avLst/>
          </a:prstGeom>
          <a:noFill/>
          <a:ln/>
        </p:spPr>
        <p:txBody>
          <a:bodyPr wrap="square" lIns="0" tIns="0" rIns="0" bIns="0" rtlCol="0" anchor="t"/>
          <a:lstStyle/>
          <a:p>
            <a:pPr indent="0" marL="0">
              <a:buNone/>
            </a:pPr>
            <a:r>
              <a:rPr lang="en-US" sz="1900" b="1" dirty="0">
                <a:solidFill>
                  <a:srgbClr val="0B1F3A"/>
                </a:solidFill>
                <a:latin typeface="Cambria" pitchFamily="34" charset="0"/>
                <a:ea typeface="Cambria" pitchFamily="34" charset="-122"/>
                <a:cs typeface="Cambria" pitchFamily="34" charset="-120"/>
              </a:rPr>
              <a:t>SIM-swap chain detector</a:t>
            </a:r>
            <a:endParaRPr lang="en-US" sz="1900" dirty="0"/>
          </a:p>
        </p:txBody>
      </p:sp>
      <p:sp>
        <p:nvSpPr>
          <p:cNvPr id="9" name="Text 6"/>
          <p:cNvSpPr txBox="1"/>
          <p:nvPr/>
        </p:nvSpPr>
        <p:spPr>
          <a:xfrm>
            <a:off x="777240" y="3337560"/>
            <a:ext cx="2148840" cy="1188720"/>
          </a:xfrm>
          <a:prstGeom prst="rect">
            <a:avLst/>
          </a:prstGeom>
          <a:noFill/>
          <a:ln/>
        </p:spPr>
        <p:txBody>
          <a:bodyPr wrap="square" lIns="0" tIns="0" rIns="0" bIns="0" rtlCol="0" anchor="t"/>
          <a:lstStyle/>
          <a:p>
            <a:pPr indent="0" marL="0">
              <a:buNone/>
            </a:pPr>
            <a:r>
              <a:rPr lang="en-US" sz="1300" dirty="0">
                <a:solidFill>
                  <a:srgbClr val="5B6B82"/>
                </a:solidFill>
                <a:latin typeface="Calibri" pitchFamily="34" charset="0"/>
                <a:ea typeface="Calibri" pitchFamily="34" charset="-122"/>
                <a:cs typeface="Calibri" pitchFamily="34" charset="-120"/>
              </a:rPr>
              <a:t>Links swap events, IMEI changes and OTP calls into one timeline lane per victim.</a:t>
            </a:r>
            <a:endParaRPr lang="en-US" sz="1300" dirty="0"/>
          </a:p>
        </p:txBody>
      </p:sp>
      <p:sp>
        <p:nvSpPr>
          <p:cNvPr id="10" name="Shape 7"/>
          <p:cNvSpPr/>
          <p:nvPr/>
        </p:nvSpPr>
        <p:spPr>
          <a:xfrm>
            <a:off x="3291840" y="1600200"/>
            <a:ext cx="2560320" cy="3017520"/>
          </a:xfrm>
          <a:prstGeom prst="roundRect">
            <a:avLst>
              <a:gd name="adj" fmla="val 357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3520440" y="1828800"/>
            <a:ext cx="640080" cy="640080"/>
          </a:xfrm>
          <a:prstGeom prst="ellipse">
            <a:avLst/>
          </a:prstGeom>
          <a:solidFill>
            <a:srgbClr val="2563EB"/>
          </a:solidFill>
          <a:ln w="12700">
            <a:solidFill>
              <a:srgbClr val="2563EB"/>
            </a:solidFill>
            <a:prstDash val="solid"/>
          </a:ln>
        </p:spPr>
      </p:sp>
      <p:sp>
        <p:nvSpPr>
          <p:cNvPr id="12" name="Text 9"/>
          <p:cNvSpPr txBox="1"/>
          <p:nvPr/>
        </p:nvSpPr>
        <p:spPr>
          <a:xfrm>
            <a:off x="35204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0"/>
          <p:cNvSpPr txBox="1"/>
          <p:nvPr/>
        </p:nvSpPr>
        <p:spPr>
          <a:xfrm>
            <a:off x="3520440" y="2606040"/>
            <a:ext cx="2103120" cy="685800"/>
          </a:xfrm>
          <a:prstGeom prst="rect">
            <a:avLst/>
          </a:prstGeom>
          <a:noFill/>
          <a:ln/>
        </p:spPr>
        <p:txBody>
          <a:bodyPr wrap="square" lIns="0" tIns="0" rIns="0" bIns="0" rtlCol="0" anchor="t"/>
          <a:lstStyle/>
          <a:p>
            <a:pPr indent="0" marL="0">
              <a:buNone/>
            </a:pPr>
            <a:r>
              <a:rPr lang="en-US" sz="1900" b="1" dirty="0">
                <a:solidFill>
                  <a:srgbClr val="0B1F3A"/>
                </a:solidFill>
                <a:latin typeface="Cambria" pitchFamily="34" charset="0"/>
                <a:ea typeface="Cambria" pitchFamily="34" charset="-122"/>
                <a:cs typeface="Cambria" pitchFamily="34" charset="-120"/>
              </a:rPr>
              <a:t>Action engine</a:t>
            </a:r>
            <a:endParaRPr lang="en-US" sz="1900" dirty="0"/>
          </a:p>
        </p:txBody>
      </p:sp>
      <p:sp>
        <p:nvSpPr>
          <p:cNvPr id="14" name="Text 11"/>
          <p:cNvSpPr txBox="1"/>
          <p:nvPr/>
        </p:nvSpPr>
        <p:spPr>
          <a:xfrm>
            <a:off x="3520440" y="3337560"/>
            <a:ext cx="2148840" cy="1188720"/>
          </a:xfrm>
          <a:prstGeom prst="rect">
            <a:avLst/>
          </a:prstGeom>
          <a:noFill/>
          <a:ln/>
        </p:spPr>
        <p:txBody>
          <a:bodyPr wrap="square" lIns="0" tIns="0" rIns="0" bIns="0" rtlCol="0" anchor="t"/>
          <a:lstStyle/>
          <a:p>
            <a:pPr indent="0" marL="0">
              <a:buNone/>
            </a:pPr>
            <a:r>
              <a:rPr lang="en-US" sz="1300" dirty="0">
                <a:solidFill>
                  <a:srgbClr val="5B6B82"/>
                </a:solidFill>
                <a:latin typeface="Calibri" pitchFamily="34" charset="0"/>
                <a:ea typeface="Calibri" pitchFamily="34" charset="-122"/>
                <a:cs typeface="Calibri" pitchFamily="34" charset="-120"/>
              </a:rPr>
              <a:t>Min-cut solver picks the smallest freeze/block set. Before/after simulation shows the disruption.</a:t>
            </a:r>
            <a:endParaRPr lang="en-US" sz="1300" dirty="0"/>
          </a:p>
        </p:txBody>
      </p:sp>
      <p:sp>
        <p:nvSpPr>
          <p:cNvPr id="15" name="Shape 12"/>
          <p:cNvSpPr/>
          <p:nvPr/>
        </p:nvSpPr>
        <p:spPr>
          <a:xfrm>
            <a:off x="6035040" y="1600200"/>
            <a:ext cx="2560320" cy="3017520"/>
          </a:xfrm>
          <a:prstGeom prst="roundRect">
            <a:avLst>
              <a:gd name="adj" fmla="val 3571"/>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6" name="Shape 13"/>
          <p:cNvSpPr/>
          <p:nvPr/>
        </p:nvSpPr>
        <p:spPr>
          <a:xfrm>
            <a:off x="6263640" y="1828800"/>
            <a:ext cx="640080" cy="640080"/>
          </a:xfrm>
          <a:prstGeom prst="ellipse">
            <a:avLst/>
          </a:prstGeom>
          <a:solidFill>
            <a:srgbClr val="2563EB"/>
          </a:solidFill>
          <a:ln w="12700">
            <a:solidFill>
              <a:srgbClr val="2563EB"/>
            </a:solidFill>
            <a:prstDash val="solid"/>
          </a:ln>
        </p:spPr>
      </p:sp>
      <p:sp>
        <p:nvSpPr>
          <p:cNvPr id="17" name="Text 14"/>
          <p:cNvSpPr txBox="1"/>
          <p:nvPr/>
        </p:nvSpPr>
        <p:spPr>
          <a:xfrm>
            <a:off x="62636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5"/>
          <p:cNvSpPr txBox="1"/>
          <p:nvPr/>
        </p:nvSpPr>
        <p:spPr>
          <a:xfrm>
            <a:off x="6263640" y="2606040"/>
            <a:ext cx="2103120" cy="685800"/>
          </a:xfrm>
          <a:prstGeom prst="rect">
            <a:avLst/>
          </a:prstGeom>
          <a:noFill/>
          <a:ln/>
        </p:spPr>
        <p:txBody>
          <a:bodyPr wrap="square" lIns="0" tIns="0" rIns="0" bIns="0" rtlCol="0" anchor="t"/>
          <a:lstStyle/>
          <a:p>
            <a:pPr indent="0" marL="0">
              <a:buNone/>
            </a:pPr>
            <a:r>
              <a:rPr lang="en-US" sz="1900" b="1" dirty="0">
                <a:solidFill>
                  <a:srgbClr val="0B1F3A"/>
                </a:solidFill>
                <a:latin typeface="Cambria" pitchFamily="34" charset="0"/>
                <a:ea typeface="Cambria" pitchFamily="34" charset="-122"/>
                <a:cs typeface="Cambria" pitchFamily="34" charset="-120"/>
              </a:rPr>
              <a:t>Legal and compliance layer</a:t>
            </a:r>
            <a:endParaRPr lang="en-US" sz="1900" dirty="0"/>
          </a:p>
        </p:txBody>
      </p:sp>
      <p:sp>
        <p:nvSpPr>
          <p:cNvPr id="19" name="Text 16"/>
          <p:cNvSpPr txBox="1"/>
          <p:nvPr/>
        </p:nvSpPr>
        <p:spPr>
          <a:xfrm>
            <a:off x="6263640" y="3337560"/>
            <a:ext cx="2148840" cy="1188720"/>
          </a:xfrm>
          <a:prstGeom prst="rect">
            <a:avLst/>
          </a:prstGeom>
          <a:noFill/>
          <a:ln/>
        </p:spPr>
        <p:txBody>
          <a:bodyPr wrap="square" lIns="0" tIns="0" rIns="0" bIns="0" rtlCol="0" anchor="t"/>
          <a:lstStyle/>
          <a:p>
            <a:pPr indent="0" marL="0">
              <a:buNone/>
            </a:pPr>
            <a:r>
              <a:rPr lang="en-US" sz="1300" dirty="0">
                <a:solidFill>
                  <a:srgbClr val="5B6B82"/>
                </a:solidFill>
                <a:latin typeface="Calibri" pitchFamily="34" charset="0"/>
                <a:ea typeface="Calibri" pitchFamily="34" charset="-122"/>
                <a:cs typeface="Calibri" pitchFamily="34" charset="-120"/>
              </a:rPr>
              <a:t>Maps findings to IT Act 66C/66D and BNS, attaches evidence IDs, adds a Sec 63 BSA checklist.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FIR-ready case brief</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Findings become actions the same day</a:t>
            </a:r>
            <a:endParaRPr lang="en-US" sz="1500" dirty="0"/>
          </a:p>
        </p:txBody>
      </p:sp>
      <p:sp>
        <p:nvSpPr>
          <p:cNvPr id="5" name="Shape 2"/>
          <p:cNvSpPr/>
          <p:nvPr/>
        </p:nvSpPr>
        <p:spPr>
          <a:xfrm>
            <a:off x="548640" y="1554480"/>
            <a:ext cx="4023360" cy="2743200"/>
          </a:xfrm>
          <a:prstGeom prst="roundRect">
            <a:avLst>
              <a:gd name="adj" fmla="val 3333"/>
            </a:avLst>
          </a:prstGeom>
          <a:solidFill>
            <a:srgbClr val="0B1F3A"/>
          </a:solidFill>
          <a:ln w="12700">
            <a:solidFill>
              <a:srgbClr val="0B1F3A"/>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822960" y="1691640"/>
            <a:ext cx="3474720" cy="3657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Case brief</a:t>
            </a:r>
            <a:endParaRPr lang="en-US" sz="2200" dirty="0"/>
          </a:p>
        </p:txBody>
      </p:sp>
      <p:sp>
        <p:nvSpPr>
          <p:cNvPr id="7" name="Text 4"/>
          <p:cNvSpPr txBox="1"/>
          <p:nvPr/>
        </p:nvSpPr>
        <p:spPr>
          <a:xfrm>
            <a:off x="822960" y="2194560"/>
            <a:ext cx="356616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E0EAFF"/>
                </a:solidFill>
                <a:latin typeface="Calibri" pitchFamily="34" charset="0"/>
                <a:ea typeface="Calibri" pitchFamily="34" charset="-122"/>
                <a:cs typeface="Calibri" pitchFamily="34" charset="-120"/>
              </a:rPr>
              <a:t>Timeline and SIM-swap chain summary</a:t>
            </a:r>
            <a:endParaRPr lang="en-US" sz="1400" dirty="0"/>
          </a:p>
          <a:p>
            <a:pPr marL="342900" indent="-342900">
              <a:spcAft>
                <a:spcPts val="600"/>
              </a:spcAft>
              <a:buSzPct val="100000"/>
              <a:buChar char="•"/>
            </a:pPr>
            <a:r>
              <a:rPr lang="en-US" sz="1400" dirty="0">
                <a:solidFill>
                  <a:srgbClr val="E0EAFF"/>
                </a:solidFill>
                <a:latin typeface="Calibri" pitchFamily="34" charset="0"/>
                <a:ea typeface="Calibri" pitchFamily="34" charset="-122"/>
                <a:cs typeface="Calibri" pitchFamily="34" charset="-120"/>
              </a:rPr>
              <a:t>Evidence with IDs</a:t>
            </a:r>
            <a:endParaRPr lang="en-US" sz="1400" dirty="0"/>
          </a:p>
          <a:p>
            <a:pPr marL="342900" indent="-342900">
              <a:spcAft>
                <a:spcPts val="600"/>
              </a:spcAft>
              <a:buSzPct val="100000"/>
              <a:buChar char="•"/>
            </a:pPr>
            <a:r>
              <a:rPr lang="en-US" sz="1400" dirty="0">
                <a:solidFill>
                  <a:srgbClr val="E0EAFF"/>
                </a:solidFill>
                <a:latin typeface="Calibri" pitchFamily="34" charset="0"/>
                <a:ea typeface="Calibri" pitchFamily="34" charset="-122"/>
                <a:cs typeface="Calibri" pitchFamily="34" charset="-120"/>
              </a:rPr>
              <a:t>Hypotheses and contradictions</a:t>
            </a:r>
            <a:endParaRPr lang="en-US" sz="1400" dirty="0"/>
          </a:p>
          <a:p>
            <a:pPr marL="342900" indent="-342900">
              <a:spcAft>
                <a:spcPts val="600"/>
              </a:spcAft>
              <a:buSzPct val="100000"/>
              <a:buChar char="•"/>
            </a:pPr>
            <a:r>
              <a:rPr lang="en-US" sz="1400" dirty="0">
                <a:solidFill>
                  <a:srgbClr val="E0EAFF"/>
                </a:solidFill>
                <a:latin typeface="Calibri" pitchFamily="34" charset="0"/>
                <a:ea typeface="Calibri" pitchFamily="34" charset="-122"/>
                <a:cs typeface="Calibri" pitchFamily="34" charset="-120"/>
              </a:rPr>
              <a:t>Legal sections (IT Act 66C/66D, BNS)</a:t>
            </a:r>
            <a:endParaRPr lang="en-US" sz="1400" dirty="0"/>
          </a:p>
          <a:p>
            <a:pPr marL="342900" indent="-342900">
              <a:spcAft>
                <a:spcPts val="600"/>
              </a:spcAft>
              <a:buSzPct val="100000"/>
              <a:buChar char="•"/>
            </a:pPr>
            <a:r>
              <a:rPr lang="en-US" sz="1400" dirty="0">
                <a:solidFill>
                  <a:srgbClr val="E0EAFF"/>
                </a:solidFill>
                <a:latin typeface="Calibri" pitchFamily="34" charset="0"/>
                <a:ea typeface="Calibri" pitchFamily="34" charset="-122"/>
                <a:cs typeface="Calibri" pitchFamily="34" charset="-120"/>
              </a:rPr>
              <a:t>Sec 63 BSA certificate checklist</a:t>
            </a:r>
            <a:endParaRPr lang="en-US" sz="1400" dirty="0"/>
          </a:p>
        </p:txBody>
      </p:sp>
      <p:sp>
        <p:nvSpPr>
          <p:cNvPr id="8" name="Shape 5"/>
          <p:cNvSpPr/>
          <p:nvPr/>
        </p:nvSpPr>
        <p:spPr>
          <a:xfrm>
            <a:off x="4846320" y="1554480"/>
            <a:ext cx="1783080" cy="1280160"/>
          </a:xfrm>
          <a:prstGeom prst="roundRect">
            <a:avLst>
              <a:gd name="adj" fmla="val 7143"/>
            </a:avLst>
          </a:prstGeom>
          <a:solidFill>
            <a:srgbClr val="F59E0B"/>
          </a:solidFill>
          <a:ln w="12700">
            <a:solidFill>
              <a:srgbClr val="F59E0B"/>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983480" y="1783080"/>
            <a:ext cx="1554480" cy="457200"/>
          </a:xfrm>
          <a:prstGeom prst="rect">
            <a:avLst/>
          </a:prstGeom>
          <a:noFill/>
          <a:ln/>
        </p:spPr>
        <p:txBody>
          <a:bodyPr wrap="square" lIns="0" tIns="0" rIns="0" bIns="0" rtlCol="0" anchor="t"/>
          <a:lstStyle/>
          <a:p>
            <a:pPr indent="0" marL="0">
              <a:buNone/>
            </a:pPr>
            <a:r>
              <a:rPr lang="en-US" sz="1600" b="1" dirty="0">
                <a:solidFill>
                  <a:srgbClr val="0B1F3A"/>
                </a:solidFill>
                <a:latin typeface="Cambria" pitchFamily="34" charset="0"/>
                <a:ea typeface="Cambria" pitchFamily="34" charset="-122"/>
                <a:cs typeface="Cambria" pitchFamily="34" charset="-120"/>
              </a:rPr>
              <a:t>Freeze now</a:t>
            </a:r>
            <a:endParaRPr lang="en-US" sz="1600" dirty="0"/>
          </a:p>
        </p:txBody>
      </p:sp>
      <p:sp>
        <p:nvSpPr>
          <p:cNvPr id="10" name="Text 7"/>
          <p:cNvSpPr txBox="1"/>
          <p:nvPr/>
        </p:nvSpPr>
        <p:spPr>
          <a:xfrm>
            <a:off x="4983480" y="2331720"/>
            <a:ext cx="1554480" cy="411480"/>
          </a:xfrm>
          <a:prstGeom prst="rect">
            <a:avLst/>
          </a:prstGeom>
          <a:noFill/>
          <a:ln/>
        </p:spPr>
        <p:txBody>
          <a:bodyPr wrap="square" lIns="0" tIns="0" rIns="0" bIns="0" rtlCol="0" anchor="t"/>
          <a:lstStyle/>
          <a:p>
            <a:pPr indent="0" marL="0">
              <a:buNone/>
            </a:pPr>
            <a:r>
              <a:rPr lang="en-US" sz="1200" dirty="0">
                <a:solidFill>
                  <a:srgbClr val="0B1F3A"/>
                </a:solidFill>
                <a:latin typeface="Calibri" pitchFamily="34" charset="0"/>
                <a:ea typeface="Calibri" pitchFamily="34" charset="-122"/>
                <a:cs typeface="Calibri" pitchFamily="34" charset="-120"/>
              </a:rPr>
              <a:t>Min-cut account set</a:t>
            </a:r>
            <a:endParaRPr lang="en-US" sz="1200" dirty="0"/>
          </a:p>
        </p:txBody>
      </p:sp>
      <p:sp>
        <p:nvSpPr>
          <p:cNvPr id="11" name="Shape 8"/>
          <p:cNvSpPr/>
          <p:nvPr/>
        </p:nvSpPr>
        <p:spPr>
          <a:xfrm>
            <a:off x="6766560" y="1554480"/>
            <a:ext cx="1783080" cy="128016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903720" y="1783080"/>
            <a:ext cx="1554480" cy="457200"/>
          </a:xfrm>
          <a:prstGeom prst="rect">
            <a:avLst/>
          </a:prstGeom>
          <a:noFill/>
          <a:ln/>
        </p:spPr>
        <p:txBody>
          <a:bodyPr wrap="square" lIns="0" tIns="0" rIns="0" bIns="0" rtlCol="0" anchor="t"/>
          <a:lstStyle/>
          <a:p>
            <a:pPr indent="0" marL="0">
              <a:buNone/>
            </a:pPr>
            <a:r>
              <a:rPr lang="en-US" sz="1600" b="1" dirty="0">
                <a:solidFill>
                  <a:srgbClr val="0B1F3A"/>
                </a:solidFill>
                <a:latin typeface="Cambria" pitchFamily="34" charset="0"/>
                <a:ea typeface="Cambria" pitchFamily="34" charset="-122"/>
                <a:cs typeface="Cambria" pitchFamily="34" charset="-120"/>
              </a:rPr>
              <a:t>Telecom requests</a:t>
            </a:r>
            <a:endParaRPr lang="en-US" sz="1600" dirty="0"/>
          </a:p>
        </p:txBody>
      </p:sp>
      <p:sp>
        <p:nvSpPr>
          <p:cNvPr id="13" name="Text 10"/>
          <p:cNvSpPr txBox="1"/>
          <p:nvPr/>
        </p:nvSpPr>
        <p:spPr>
          <a:xfrm>
            <a:off x="6903720" y="2331720"/>
            <a:ext cx="1554480" cy="41148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SIM and IMEI records</a:t>
            </a:r>
            <a:endParaRPr lang="en-US" sz="1200" dirty="0"/>
          </a:p>
        </p:txBody>
      </p:sp>
      <p:sp>
        <p:nvSpPr>
          <p:cNvPr id="14" name="Shape 11"/>
          <p:cNvSpPr/>
          <p:nvPr/>
        </p:nvSpPr>
        <p:spPr>
          <a:xfrm>
            <a:off x="4846320" y="2971800"/>
            <a:ext cx="1783080" cy="128016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4983480" y="3200400"/>
            <a:ext cx="1554480" cy="457200"/>
          </a:xfrm>
          <a:prstGeom prst="rect">
            <a:avLst/>
          </a:prstGeom>
          <a:noFill/>
          <a:ln/>
        </p:spPr>
        <p:txBody>
          <a:bodyPr wrap="square" lIns="0" tIns="0" rIns="0" bIns="0" rtlCol="0" anchor="t"/>
          <a:lstStyle/>
          <a:p>
            <a:pPr indent="0" marL="0">
              <a:buNone/>
            </a:pPr>
            <a:r>
              <a:rPr lang="en-US" sz="1600" b="1" dirty="0">
                <a:solidFill>
                  <a:srgbClr val="0B1F3A"/>
                </a:solidFill>
                <a:latin typeface="Cambria" pitchFamily="34" charset="0"/>
                <a:ea typeface="Cambria" pitchFamily="34" charset="-122"/>
                <a:cs typeface="Cambria" pitchFamily="34" charset="-120"/>
              </a:rPr>
              <a:t>Bank requests</a:t>
            </a:r>
            <a:endParaRPr lang="en-US" sz="1600" dirty="0"/>
          </a:p>
        </p:txBody>
      </p:sp>
      <p:sp>
        <p:nvSpPr>
          <p:cNvPr id="16" name="Text 13"/>
          <p:cNvSpPr txBox="1"/>
          <p:nvPr/>
        </p:nvSpPr>
        <p:spPr>
          <a:xfrm>
            <a:off x="4983480" y="3749040"/>
            <a:ext cx="1554480" cy="41148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Statements and KYC</a:t>
            </a:r>
            <a:endParaRPr lang="en-US" sz="1200" dirty="0"/>
          </a:p>
        </p:txBody>
      </p:sp>
      <p:sp>
        <p:nvSpPr>
          <p:cNvPr id="17" name="Shape 14"/>
          <p:cNvSpPr/>
          <p:nvPr/>
        </p:nvSpPr>
        <p:spPr>
          <a:xfrm>
            <a:off x="6766560" y="2971800"/>
            <a:ext cx="1783080" cy="128016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6903720" y="3200400"/>
            <a:ext cx="1554480" cy="457200"/>
          </a:xfrm>
          <a:prstGeom prst="rect">
            <a:avLst/>
          </a:prstGeom>
          <a:noFill/>
          <a:ln/>
        </p:spPr>
        <p:txBody>
          <a:bodyPr wrap="square" lIns="0" tIns="0" rIns="0" bIns="0" rtlCol="0" anchor="t"/>
          <a:lstStyle/>
          <a:p>
            <a:pPr indent="0" marL="0">
              <a:buNone/>
            </a:pPr>
            <a:r>
              <a:rPr lang="en-US" sz="1600" b="1" dirty="0">
                <a:solidFill>
                  <a:srgbClr val="0B1F3A"/>
                </a:solidFill>
                <a:latin typeface="Cambria" pitchFamily="34" charset="0"/>
                <a:ea typeface="Cambria" pitchFamily="34" charset="-122"/>
                <a:cs typeface="Cambria" pitchFamily="34" charset="-120"/>
              </a:rPr>
              <a:t>Field verification</a:t>
            </a:r>
            <a:endParaRPr lang="en-US" sz="1600" dirty="0"/>
          </a:p>
        </p:txBody>
      </p:sp>
      <p:sp>
        <p:nvSpPr>
          <p:cNvPr id="19" name="Text 16"/>
          <p:cNvSpPr txBox="1"/>
          <p:nvPr/>
        </p:nvSpPr>
        <p:spPr>
          <a:xfrm>
            <a:off x="6903720" y="3749040"/>
            <a:ext cx="1554480" cy="41148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Locations and devices</a:t>
            </a:r>
            <a:endParaRPr lang="en-US" sz="1200" dirty="0"/>
          </a:p>
        </p:txBody>
      </p:sp>
      <p:sp>
        <p:nvSpPr>
          <p:cNvPr id="20" name="Text 17"/>
          <p:cNvSpPr txBox="1"/>
          <p:nvPr/>
        </p:nvSpPr>
        <p:spPr>
          <a:xfrm>
            <a:off x="548640" y="4480560"/>
            <a:ext cx="8046720" cy="365760"/>
          </a:xfrm>
          <a:prstGeom prst="rect">
            <a:avLst/>
          </a:prstGeom>
          <a:noFill/>
          <a:ln/>
        </p:spPr>
        <p:txBody>
          <a:bodyPr wrap="square" lIns="0" tIns="0" rIns="0" bIns="0" rtlCol="0" anchor="t"/>
          <a:lstStyle/>
          <a:p>
            <a:pPr indent="0" marL="0">
              <a:buNone/>
            </a:pPr>
            <a:r>
              <a:rPr lang="en-US" sz="1200" i="1" dirty="0">
                <a:solidFill>
                  <a:srgbClr val="5B6B82"/>
                </a:solidFill>
                <a:latin typeface="Calibri" pitchFamily="34" charset="0"/>
                <a:ea typeface="Calibri" pitchFamily="34" charset="-122"/>
                <a:cs typeface="Calibri" pitchFamily="34" charset="-120"/>
              </a:rPr>
              <a:t>Weeks of manual tracing, reduced to minutes. Legal mappings to be verified with the legal officer.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t"/>
          <a:lstStyle/>
          <a:p>
            <a:pPr indent="0" marL="0">
              <a:buNone/>
            </a:pPr>
            <a:r>
              <a:rPr lang="en-US" sz="3400" b="1" dirty="0">
                <a:solidFill>
                  <a:srgbClr val="0B1F3A"/>
                </a:solidFill>
                <a:latin typeface="Cambria" pitchFamily="34" charset="0"/>
                <a:ea typeface="Cambria" pitchFamily="34" charset="-122"/>
                <a:cs typeface="Cambria" pitchFamily="34" charset="-120"/>
              </a:rPr>
              <a:t>Future scope</a:t>
            </a:r>
            <a:endParaRPr lang="en-US" sz="3400" dirty="0"/>
          </a:p>
        </p:txBody>
      </p:sp>
      <p:sp>
        <p:nvSpPr>
          <p:cNvPr id="3" name="Text 1"/>
          <p:cNvSpPr txBox="1"/>
          <p:nvPr/>
        </p:nvSpPr>
        <p:spPr>
          <a:xfrm>
            <a:off x="548640" y="987552"/>
            <a:ext cx="8046720" cy="320040"/>
          </a:xfrm>
          <a:prstGeom prst="rect">
            <a:avLst/>
          </a:prstGeom>
          <a:noFill/>
          <a:ln/>
        </p:spPr>
        <p:txBody>
          <a:bodyPr wrap="square" lIns="0" tIns="0" rIns="0" bIns="0" rtlCol="0" anchor="t"/>
          <a:lstStyle/>
          <a:p>
            <a:pPr indent="0" marL="0">
              <a:buNone/>
            </a:pPr>
            <a:r>
              <a:rPr lang="en-US" sz="1500" i="1" dirty="0">
                <a:solidFill>
                  <a:srgbClr val="5B6B82"/>
                </a:solidFill>
                <a:latin typeface="Calibri" pitchFamily="34" charset="0"/>
                <a:ea typeface="Calibri" pitchFamily="34" charset="-122"/>
                <a:cs typeface="Calibri" pitchFamily="34" charset="-120"/>
              </a:rPr>
              <a:t>From one investigation to a growing case library</a:t>
            </a:r>
            <a:endParaRPr lang="en-US" sz="1500" dirty="0"/>
          </a:p>
        </p:txBody>
      </p:sp>
      <p:sp>
        <p:nvSpPr>
          <p:cNvPr id="5" name="Shape 2"/>
          <p:cNvSpPr/>
          <p:nvPr/>
        </p:nvSpPr>
        <p:spPr>
          <a:xfrm>
            <a:off x="548640" y="1600200"/>
            <a:ext cx="3931920" cy="2423160"/>
          </a:xfrm>
          <a:prstGeom prst="roundRect">
            <a:avLst>
              <a:gd name="adj" fmla="val 3774"/>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6" name="Shape 3"/>
          <p:cNvSpPr/>
          <p:nvPr/>
        </p:nvSpPr>
        <p:spPr>
          <a:xfrm>
            <a:off x="822960" y="1828800"/>
            <a:ext cx="640080" cy="640080"/>
          </a:xfrm>
          <a:prstGeom prst="ellipse">
            <a:avLst/>
          </a:prstGeom>
          <a:solidFill>
            <a:srgbClr val="2563EB"/>
          </a:solidFill>
          <a:ln w="12700">
            <a:solidFill>
              <a:srgbClr val="2563EB"/>
            </a:solidFill>
            <a:prstDash val="solid"/>
          </a:ln>
        </p:spPr>
      </p:sp>
      <p:sp>
        <p:nvSpPr>
          <p:cNvPr id="7" name="Text 4"/>
          <p:cNvSpPr txBox="1"/>
          <p:nvPr/>
        </p:nvSpPr>
        <p:spPr>
          <a:xfrm>
            <a:off x="822960" y="1828800"/>
            <a:ext cx="6400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a:t>
            </a:r>
            <a:endParaRPr lang="en-US" sz="3200" dirty="0"/>
          </a:p>
        </p:txBody>
      </p:sp>
      <p:sp>
        <p:nvSpPr>
          <p:cNvPr id="8" name="Text 5"/>
          <p:cNvSpPr txBox="1"/>
          <p:nvPr/>
        </p:nvSpPr>
        <p:spPr>
          <a:xfrm>
            <a:off x="1600200" y="1828800"/>
            <a:ext cx="2743200" cy="640080"/>
          </a:xfrm>
          <a:prstGeom prst="rect">
            <a:avLst/>
          </a:prstGeom>
          <a:noFill/>
          <a:ln/>
        </p:spPr>
        <p:txBody>
          <a:bodyPr wrap="square" lIns="0" tIns="0" rIns="0" bIns="0" rtlCol="0" anchor="ctr"/>
          <a:lstStyle/>
          <a:p>
            <a:pPr indent="0" marL="0">
              <a:buNone/>
            </a:pPr>
            <a:r>
              <a:rPr lang="en-US" sz="2200" b="1" dirty="0">
                <a:solidFill>
                  <a:srgbClr val="0B1F3A"/>
                </a:solidFill>
                <a:latin typeface="Cambria" pitchFamily="34" charset="0"/>
                <a:ea typeface="Cambria" pitchFamily="34" charset="-122"/>
                <a:cs typeface="Cambria" pitchFamily="34" charset="-120"/>
              </a:rPr>
              <a:t>Add new cases</a:t>
            </a:r>
            <a:endParaRPr lang="en-US" sz="2200" dirty="0"/>
          </a:p>
        </p:txBody>
      </p:sp>
      <p:sp>
        <p:nvSpPr>
          <p:cNvPr id="9" name="Text 6"/>
          <p:cNvSpPr txBox="1"/>
          <p:nvPr/>
        </p:nvSpPr>
        <p:spPr>
          <a:xfrm>
            <a:off x="822960" y="2606040"/>
            <a:ext cx="338328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Create a case and upload its records in the tool. Bob runs the full pipeline on it.</a:t>
            </a:r>
            <a:endParaRPr lang="en-US" sz="1400" dirty="0"/>
          </a:p>
        </p:txBody>
      </p:sp>
      <p:sp>
        <p:nvSpPr>
          <p:cNvPr id="10" name="Text 7"/>
          <p:cNvSpPr txBox="1"/>
          <p:nvPr/>
        </p:nvSpPr>
        <p:spPr>
          <a:xfrm>
            <a:off x="822960" y="3200400"/>
            <a:ext cx="3383280" cy="7315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New case in a few clicks</a:t>
            </a:r>
            <a:endParaRPr lang="en-US" sz="1300" dirty="0"/>
          </a:p>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Ingest to brief, same workflow</a:t>
            </a:r>
            <a:endParaRPr lang="en-US" sz="1300" dirty="0"/>
          </a:p>
        </p:txBody>
      </p:sp>
      <p:sp>
        <p:nvSpPr>
          <p:cNvPr id="11" name="Shape 8"/>
          <p:cNvSpPr/>
          <p:nvPr/>
        </p:nvSpPr>
        <p:spPr>
          <a:xfrm>
            <a:off x="4663440" y="1600200"/>
            <a:ext cx="3931920" cy="2423160"/>
          </a:xfrm>
          <a:prstGeom prst="roundRect">
            <a:avLst>
              <a:gd name="adj" fmla="val 3774"/>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937760" y="1828800"/>
            <a:ext cx="640080" cy="640080"/>
          </a:xfrm>
          <a:prstGeom prst="ellipse">
            <a:avLst/>
          </a:prstGeom>
          <a:solidFill>
            <a:srgbClr val="0B1F3A"/>
          </a:solidFill>
          <a:ln w="12700">
            <a:solidFill>
              <a:srgbClr val="0B1F3A"/>
            </a:solidFill>
            <a:prstDash val="solid"/>
          </a:ln>
        </p:spPr>
      </p:sp>
      <p:sp>
        <p:nvSpPr>
          <p:cNvPr id="13" name="Text 10"/>
          <p:cNvSpPr txBox="1"/>
          <p:nvPr/>
        </p:nvSpPr>
        <p:spPr>
          <a:xfrm>
            <a:off x="4937760" y="182880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DB</a:t>
            </a:r>
            <a:endParaRPr lang="en-US" sz="1600" dirty="0"/>
          </a:p>
        </p:txBody>
      </p:sp>
      <p:sp>
        <p:nvSpPr>
          <p:cNvPr id="14" name="Text 11"/>
          <p:cNvSpPr txBox="1"/>
          <p:nvPr/>
        </p:nvSpPr>
        <p:spPr>
          <a:xfrm>
            <a:off x="5715000" y="1828800"/>
            <a:ext cx="2743200" cy="640080"/>
          </a:xfrm>
          <a:prstGeom prst="rect">
            <a:avLst/>
          </a:prstGeom>
          <a:noFill/>
          <a:ln/>
        </p:spPr>
        <p:txBody>
          <a:bodyPr wrap="square" lIns="0" tIns="0" rIns="0" bIns="0" rtlCol="0" anchor="ctr"/>
          <a:lstStyle/>
          <a:p>
            <a:pPr indent="0" marL="0">
              <a:buNone/>
            </a:pPr>
            <a:r>
              <a:rPr lang="en-US" sz="2200" b="1" dirty="0">
                <a:solidFill>
                  <a:srgbClr val="0B1F3A"/>
                </a:solidFill>
                <a:latin typeface="Cambria" pitchFamily="34" charset="0"/>
                <a:ea typeface="Cambria" pitchFamily="34" charset="-122"/>
                <a:cs typeface="Cambria" pitchFamily="34" charset="-120"/>
              </a:rPr>
              <a:t>Persistent case memory</a:t>
            </a:r>
            <a:endParaRPr lang="en-US" sz="2200" dirty="0"/>
          </a:p>
        </p:txBody>
      </p:sp>
      <p:sp>
        <p:nvSpPr>
          <p:cNvPr id="15" name="Text 12"/>
          <p:cNvSpPr txBox="1"/>
          <p:nvPr/>
        </p:nvSpPr>
        <p:spPr>
          <a:xfrm>
            <a:off x="4937760" y="2606040"/>
            <a:ext cx="3383280" cy="548640"/>
          </a:xfrm>
          <a:prstGeom prst="rect">
            <a:avLst/>
          </a:prstGeom>
          <a:noFill/>
          <a:ln/>
        </p:spPr>
        <p:txBody>
          <a:bodyPr wrap="square" lIns="0" tIns="0" rIns="0" bIns="0" rtlCol="0" anchor="t"/>
          <a:lstStyle/>
          <a:p>
            <a:pPr indent="0" marL="0">
              <a:buNone/>
            </a:pPr>
            <a:r>
              <a:rPr lang="en-US" sz="1400" dirty="0">
                <a:solidFill>
                  <a:srgbClr val="5B6B82"/>
                </a:solidFill>
                <a:latin typeface="Calibri" pitchFamily="34" charset="0"/>
                <a:ea typeface="Calibri" pitchFamily="34" charset="-122"/>
                <a:cs typeface="Calibri" pitchFamily="34" charset="-120"/>
              </a:rPr>
              <a:t>Every case is stored, so old investigations are never lost.</a:t>
            </a:r>
            <a:endParaRPr lang="en-US" sz="1400" dirty="0"/>
          </a:p>
        </p:txBody>
      </p:sp>
      <p:sp>
        <p:nvSpPr>
          <p:cNvPr id="16" name="Text 13"/>
          <p:cNvSpPr txBox="1"/>
          <p:nvPr/>
        </p:nvSpPr>
        <p:spPr>
          <a:xfrm>
            <a:off x="4937760" y="3200400"/>
            <a:ext cx="3383280" cy="7315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Reopen graphs, evidence and briefs</a:t>
            </a:r>
            <a:endParaRPr lang="en-US" sz="1300" dirty="0"/>
          </a:p>
          <a:p>
            <a:pPr marL="342900" indent="-342900">
              <a:spcAft>
                <a:spcPts val="400"/>
              </a:spcAft>
              <a:buSzPct val="100000"/>
              <a:buChar char="•"/>
            </a:pPr>
            <a:r>
              <a:rPr lang="en-US" sz="1300" dirty="0">
                <a:solidFill>
                  <a:srgbClr val="0B1F3A"/>
                </a:solidFill>
                <a:latin typeface="Calibri" pitchFamily="34" charset="0"/>
                <a:ea typeface="Calibri" pitchFamily="34" charset="-122"/>
                <a:cs typeface="Calibri" pitchFamily="34" charset="-120"/>
              </a:rPr>
              <a:t>Spot repeat accounts, SIMs and devices across cases</a:t>
            </a:r>
            <a:endParaRPr lang="en-US" sz="1300" dirty="0"/>
          </a:p>
        </p:txBody>
      </p:sp>
      <p:sp>
        <p:nvSpPr>
          <p:cNvPr id="17" name="Shape 14"/>
          <p:cNvSpPr/>
          <p:nvPr/>
        </p:nvSpPr>
        <p:spPr>
          <a:xfrm>
            <a:off x="548640" y="4206240"/>
            <a:ext cx="8046720" cy="548640"/>
          </a:xfrm>
          <a:prstGeom prst="roundRect">
            <a:avLst>
              <a:gd name="adj" fmla="val 16667"/>
            </a:avLst>
          </a:prstGeom>
          <a:solidFill>
            <a:srgbClr val="0B1F3A"/>
          </a:solidFill>
          <a:ln w="12700">
            <a:solidFill>
              <a:srgbClr val="0B1F3A"/>
            </a:solidFill>
            <a:prstDash val="solid"/>
          </a:ln>
        </p:spPr>
      </p:sp>
      <p:sp>
        <p:nvSpPr>
          <p:cNvPr id="18" name="Text 15"/>
          <p:cNvSpPr txBox="1"/>
          <p:nvPr/>
        </p:nvSpPr>
        <p:spPr>
          <a:xfrm>
            <a:off x="548640" y="4206240"/>
            <a:ext cx="8046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Each new case makes the next investigation faster.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3" name="Shape 0"/>
          <p:cNvSpPr/>
          <p:nvPr/>
        </p:nvSpPr>
        <p:spPr>
          <a:xfrm>
            <a:off x="6949440" y="1097280"/>
            <a:ext cx="1188720" cy="640080"/>
          </a:xfrm>
          <a:prstGeom prst="line">
            <a:avLst/>
          </a:prstGeom>
          <a:noFill/>
          <a:ln w="19050">
            <a:solidFill>
              <a:srgbClr val="3B6FD8"/>
            </a:solidFill>
            <a:prstDash val="solid"/>
          </a:ln>
        </p:spPr>
      </p:sp>
      <p:sp>
        <p:nvSpPr>
          <p:cNvPr id="4" name="Shape 1"/>
          <p:cNvSpPr/>
          <p:nvPr/>
        </p:nvSpPr>
        <p:spPr>
          <a:xfrm flipV="1">
            <a:off x="7589520" y="1737360"/>
            <a:ext cx="548640" cy="1005840"/>
          </a:xfrm>
          <a:prstGeom prst="line">
            <a:avLst/>
          </a:prstGeom>
          <a:noFill/>
          <a:ln w="19050">
            <a:solidFill>
              <a:srgbClr val="3B6FD8"/>
            </a:solidFill>
            <a:prstDash val="solid"/>
          </a:ln>
        </p:spPr>
      </p:sp>
      <p:sp>
        <p:nvSpPr>
          <p:cNvPr id="5" name="Shape 2"/>
          <p:cNvSpPr/>
          <p:nvPr/>
        </p:nvSpPr>
        <p:spPr>
          <a:xfrm flipV="1">
            <a:off x="6675120" y="1097280"/>
            <a:ext cx="274320" cy="1097280"/>
          </a:xfrm>
          <a:prstGeom prst="line">
            <a:avLst/>
          </a:prstGeom>
          <a:noFill/>
          <a:ln w="19050">
            <a:solidFill>
              <a:srgbClr val="3B6FD8"/>
            </a:solidFill>
            <a:prstDash val="solid"/>
          </a:ln>
        </p:spPr>
      </p:sp>
      <p:sp>
        <p:nvSpPr>
          <p:cNvPr id="6" name="Shape 3"/>
          <p:cNvSpPr/>
          <p:nvPr/>
        </p:nvSpPr>
        <p:spPr>
          <a:xfrm>
            <a:off x="6675120" y="2194560"/>
            <a:ext cx="914400" cy="548640"/>
          </a:xfrm>
          <a:prstGeom prst="line">
            <a:avLst/>
          </a:prstGeom>
          <a:noFill/>
          <a:ln w="19050">
            <a:solidFill>
              <a:srgbClr val="3B6FD8"/>
            </a:solidFill>
            <a:prstDash val="solid"/>
          </a:ln>
        </p:spPr>
      </p:sp>
      <p:sp>
        <p:nvSpPr>
          <p:cNvPr id="7" name="Shape 4"/>
          <p:cNvSpPr/>
          <p:nvPr/>
        </p:nvSpPr>
        <p:spPr>
          <a:xfrm>
            <a:off x="7589520" y="2743200"/>
            <a:ext cx="274320" cy="1097280"/>
          </a:xfrm>
          <a:prstGeom prst="line">
            <a:avLst/>
          </a:prstGeom>
          <a:noFill/>
          <a:ln w="19050">
            <a:solidFill>
              <a:srgbClr val="3B6FD8"/>
            </a:solidFill>
            <a:prstDash val="solid"/>
          </a:ln>
        </p:spPr>
      </p:sp>
      <p:sp>
        <p:nvSpPr>
          <p:cNvPr id="8" name="Shape 5"/>
          <p:cNvSpPr/>
          <p:nvPr/>
        </p:nvSpPr>
        <p:spPr>
          <a:xfrm>
            <a:off x="6675120" y="2194560"/>
            <a:ext cx="182880" cy="1371600"/>
          </a:xfrm>
          <a:prstGeom prst="line">
            <a:avLst/>
          </a:prstGeom>
          <a:noFill/>
          <a:ln w="19050">
            <a:solidFill>
              <a:srgbClr val="3B6FD8"/>
            </a:solidFill>
            <a:prstDash val="solid"/>
          </a:ln>
        </p:spPr>
      </p:sp>
      <p:sp>
        <p:nvSpPr>
          <p:cNvPr id="9" name="Shape 6"/>
          <p:cNvSpPr/>
          <p:nvPr/>
        </p:nvSpPr>
        <p:spPr>
          <a:xfrm>
            <a:off x="6858000" y="3566160"/>
            <a:ext cx="1005840" cy="274320"/>
          </a:xfrm>
          <a:prstGeom prst="line">
            <a:avLst/>
          </a:prstGeom>
          <a:noFill/>
          <a:ln w="19050">
            <a:solidFill>
              <a:srgbClr val="3B6FD8"/>
            </a:solidFill>
            <a:prstDash val="solid"/>
          </a:ln>
        </p:spPr>
      </p:sp>
      <p:sp>
        <p:nvSpPr>
          <p:cNvPr id="10" name="Shape 7"/>
          <p:cNvSpPr/>
          <p:nvPr/>
        </p:nvSpPr>
        <p:spPr>
          <a:xfrm>
            <a:off x="6821424" y="969264"/>
            <a:ext cx="256032" cy="256032"/>
          </a:xfrm>
          <a:prstGeom prst="ellipse">
            <a:avLst/>
          </a:prstGeom>
          <a:solidFill>
            <a:srgbClr val="4F8BFF"/>
          </a:solidFill>
          <a:ln w="12700">
            <a:solidFill>
              <a:srgbClr val="4F8BFF"/>
            </a:solidFill>
            <a:prstDash val="solid"/>
          </a:ln>
        </p:spPr>
      </p:sp>
      <p:sp>
        <p:nvSpPr>
          <p:cNvPr id="11" name="Shape 8"/>
          <p:cNvSpPr/>
          <p:nvPr/>
        </p:nvSpPr>
        <p:spPr>
          <a:xfrm>
            <a:off x="8010144" y="1609344"/>
            <a:ext cx="256032" cy="256032"/>
          </a:xfrm>
          <a:prstGeom prst="ellipse">
            <a:avLst/>
          </a:prstGeom>
          <a:solidFill>
            <a:srgbClr val="4F8BFF"/>
          </a:solidFill>
          <a:ln w="12700">
            <a:solidFill>
              <a:srgbClr val="4F8BFF"/>
            </a:solidFill>
            <a:prstDash val="solid"/>
          </a:ln>
        </p:spPr>
      </p:sp>
      <p:sp>
        <p:nvSpPr>
          <p:cNvPr id="12" name="Shape 9"/>
          <p:cNvSpPr/>
          <p:nvPr/>
        </p:nvSpPr>
        <p:spPr>
          <a:xfrm>
            <a:off x="7461504" y="2615184"/>
            <a:ext cx="365760" cy="365760"/>
          </a:xfrm>
          <a:prstGeom prst="ellipse">
            <a:avLst/>
          </a:prstGeom>
          <a:solidFill>
            <a:srgbClr val="F59E0B"/>
          </a:solidFill>
          <a:ln w="12700">
            <a:solidFill>
              <a:srgbClr val="F59E0B"/>
            </a:solidFill>
            <a:prstDash val="solid"/>
          </a:ln>
        </p:spPr>
      </p:sp>
      <p:sp>
        <p:nvSpPr>
          <p:cNvPr id="13" name="Shape 10"/>
          <p:cNvSpPr/>
          <p:nvPr/>
        </p:nvSpPr>
        <p:spPr>
          <a:xfrm>
            <a:off x="6547104" y="2066544"/>
            <a:ext cx="256032" cy="256032"/>
          </a:xfrm>
          <a:prstGeom prst="ellipse">
            <a:avLst/>
          </a:prstGeom>
          <a:solidFill>
            <a:srgbClr val="4F8BFF"/>
          </a:solidFill>
          <a:ln w="12700">
            <a:solidFill>
              <a:srgbClr val="4F8BFF"/>
            </a:solidFill>
            <a:prstDash val="solid"/>
          </a:ln>
        </p:spPr>
      </p:sp>
      <p:sp>
        <p:nvSpPr>
          <p:cNvPr id="14" name="Shape 11"/>
          <p:cNvSpPr/>
          <p:nvPr/>
        </p:nvSpPr>
        <p:spPr>
          <a:xfrm>
            <a:off x="7735824" y="3712464"/>
            <a:ext cx="256032" cy="256032"/>
          </a:xfrm>
          <a:prstGeom prst="ellipse">
            <a:avLst/>
          </a:prstGeom>
          <a:solidFill>
            <a:srgbClr val="4F8BFF"/>
          </a:solidFill>
          <a:ln w="12700">
            <a:solidFill>
              <a:srgbClr val="4F8BFF"/>
            </a:solidFill>
            <a:prstDash val="solid"/>
          </a:ln>
        </p:spPr>
      </p:sp>
      <p:sp>
        <p:nvSpPr>
          <p:cNvPr id="15" name="Shape 12"/>
          <p:cNvSpPr/>
          <p:nvPr/>
        </p:nvSpPr>
        <p:spPr>
          <a:xfrm>
            <a:off x="6729984" y="3438144"/>
            <a:ext cx="256032" cy="256032"/>
          </a:xfrm>
          <a:prstGeom prst="ellipse">
            <a:avLst/>
          </a:prstGeom>
          <a:solidFill>
            <a:srgbClr val="4F8BFF"/>
          </a:solidFill>
          <a:ln w="12700">
            <a:solidFill>
              <a:srgbClr val="4F8BFF"/>
            </a:solidFill>
            <a:prstDash val="solid"/>
          </a:ln>
        </p:spPr>
      </p:sp>
      <p:sp>
        <p:nvSpPr>
          <p:cNvPr id="16" name="Text 13"/>
          <p:cNvSpPr txBox="1"/>
          <p:nvPr/>
        </p:nvSpPr>
        <p:spPr>
          <a:xfrm>
            <a:off x="640080" y="1737360"/>
            <a:ext cx="5486400" cy="91440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17" name="Text 14"/>
          <p:cNvSpPr txBox="1"/>
          <p:nvPr/>
        </p:nvSpPr>
        <p:spPr>
          <a:xfrm>
            <a:off x="640080" y="2743200"/>
            <a:ext cx="5486400" cy="457200"/>
          </a:xfrm>
          <a:prstGeom prst="rect">
            <a:avLst/>
          </a:prstGeom>
          <a:noFill/>
          <a:ln/>
        </p:spPr>
        <p:txBody>
          <a:bodyPr wrap="square" lIns="0" tIns="0" rIns="0" bIns="0" rtlCol="0" anchor="t"/>
          <a:lstStyle/>
          <a:p>
            <a:pPr indent="0" marL="0">
              <a:buNone/>
            </a:pPr>
            <a:r>
              <a:rPr lang="en-US" sz="2200" dirty="0">
                <a:solidFill>
                  <a:srgbClr val="CFE0FF"/>
                </a:solidFill>
                <a:latin typeface="Calibri" pitchFamily="34" charset="0"/>
                <a:ea typeface="Calibri" pitchFamily="34" charset="-122"/>
                <a:cs typeface="Calibri" pitchFamily="34" charset="-120"/>
              </a:rPr>
              <a:t>Any questions?</a:t>
            </a:r>
            <a:endParaRPr lang="en-US" sz="2200" dirty="0"/>
          </a:p>
        </p:txBody>
      </p:sp>
      <p:sp>
        <p:nvSpPr>
          <p:cNvPr id="18" name="Text 15"/>
          <p:cNvSpPr txBox="1"/>
          <p:nvPr/>
        </p:nvSpPr>
        <p:spPr>
          <a:xfrm>
            <a:off x="640080" y="4206240"/>
            <a:ext cx="5486400" cy="365760"/>
          </a:xfrm>
          <a:prstGeom prst="rect">
            <a:avLst/>
          </a:prstGeom>
          <a:noFill/>
          <a:ln/>
        </p:spPr>
        <p:txBody>
          <a:bodyPr wrap="square" lIns="0" tIns="0" rIns="0" bIns="0" rtlCol="0" anchor="t"/>
          <a:lstStyle/>
          <a:p>
            <a:pPr indent="0" marL="0">
              <a:buNone/>
            </a:pPr>
            <a:r>
              <a:rPr lang="en-US" sz="1400" dirty="0">
                <a:solidFill>
                  <a:srgbClr val="8FB3FF"/>
                </a:solidFill>
                <a:latin typeface="Calibri" pitchFamily="34" charset="0"/>
                <a:ea typeface="Calibri" pitchFamily="34" charset="-122"/>
                <a:cs typeface="Calibri" pitchFamily="34" charset="-120"/>
              </a:rPr>
              <a:t>Fraud Lens  |  By TetraPack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2026-09-28T10:25:08Z</dcterms:created>
  <dcterms:modified xsi:type="dcterms:W3CDTF">2026-09-28T10:25:08Z</dcterms:modified>
</cp:coreProperties>
</file>